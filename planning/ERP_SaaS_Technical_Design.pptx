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review session. Goal: validate the architecture and surface anything we have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defend the NestJS-over-Next.js call — it is the one stack decision likely to be questioned.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Per-request cost: local signature verify + one Redis read. No network call to Keycloak.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back point: dedicated DBs do NOT eliminate tenant confusion — a wrong connection leaks just as badly, and that bug hides in infra code. RLS closes most of the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in-process cache layer on top of Redis at launch — deliberately deferred. One Redis read is cheap; premature layering makes invalidation bugs hard to reason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delete is the exact inverse of the future tenant-migration script: extract, load, verify, delete. Same enumeration logic — build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Payroll deferral is worth discussing — it is the most locale-dependent part of HR and a large scope risk for an 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highlighted green — it is the sequencing point most likely to be argued with, and the one worth defending.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The engineer adds most value on questions 1, 2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875520" y="-1463040"/>
            <a:ext cx="4572000" cy="4572000"/>
          </a:xfrm>
          <a:prstGeom prst="ellipse">
            <a:avLst/>
          </a:prstGeom>
          <a:solidFill>
            <a:srgbClr val="065A82"/>
          </a:solidFill>
          <a:ln w="12700">
            <a:solidFill>
              <a:srgbClr val="065A82"/>
            </a:solidFill>
            <a:prstDash val="solid"/>
          </a:ln>
        </p:spPr>
      </p:sp>
      <p:sp>
        <p:nvSpPr>
          <p:cNvPr id="3" name="Shape 1"/>
          <p:cNvSpPr/>
          <p:nvPr/>
        </p:nvSpPr>
        <p:spPr>
          <a:xfrm>
            <a:off x="10972800" y="4389120"/>
            <a:ext cx="2926080" cy="2926080"/>
          </a:xfrm>
          <a:prstGeom prst="ellipse">
            <a:avLst/>
          </a:prstGeom>
          <a:solidFill>
            <a:srgbClr val="1C7293"/>
          </a:solidFill>
          <a:ln w="12700">
            <a:solidFill>
              <a:srgbClr val="1C7293"/>
            </a:solidFill>
            <a:prstDash val="solid"/>
          </a:ln>
        </p:spPr>
      </p:sp>
      <p:sp>
        <p:nvSpPr>
          <p:cNvPr id="4" name="Text 2"/>
          <p:cNvSpPr txBox="1"/>
          <p:nvPr/>
        </p:nvSpPr>
        <p:spPr>
          <a:xfrm>
            <a:off x="822960" y="1965960"/>
            <a:ext cx="8778240" cy="8686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ERP SaaS — Technical Design</a:t>
            </a:r>
            <a:endParaRPr lang="en-US" sz="4200" dirty="0"/>
          </a:p>
        </p:txBody>
      </p:sp>
      <p:sp>
        <p:nvSpPr>
          <p:cNvPr id="5" name="Text 3"/>
          <p:cNvSpPr txBox="1"/>
          <p:nvPr/>
        </p:nvSpPr>
        <p:spPr>
          <a:xfrm>
            <a:off x="822960" y="2880360"/>
            <a:ext cx="877824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Architecture, multi-tenancy &amp; implementation plan</a:t>
            </a:r>
            <a:endParaRPr lang="en-US" sz="2000" dirty="0"/>
          </a:p>
        </p:txBody>
      </p:sp>
      <p:sp>
        <p:nvSpPr>
          <p:cNvPr id="6" name="Shape 4"/>
          <p:cNvSpPr/>
          <p:nvPr/>
        </p:nvSpPr>
        <p:spPr>
          <a:xfrm>
            <a:off x="822960" y="3584448"/>
            <a:ext cx="1463040" cy="45720"/>
          </a:xfrm>
          <a:prstGeom prst="rect">
            <a:avLst/>
          </a:prstGeom>
          <a:solidFill>
            <a:srgbClr val="D98E04"/>
          </a:solidFill>
          <a:ln w="12700">
            <a:solidFill>
              <a:srgbClr val="D98E04"/>
            </a:solidFill>
            <a:prstDash val="solid"/>
          </a:ln>
        </p:spPr>
      </p:sp>
      <p:sp>
        <p:nvSpPr>
          <p:cNvPr id="7" name="Text 5"/>
          <p:cNvSpPr txBox="1"/>
          <p:nvPr/>
        </p:nvSpPr>
        <p:spPr>
          <a:xfrm>
            <a:off x="822960" y="3886200"/>
            <a:ext cx="8778240" cy="365760"/>
          </a:xfrm>
          <a:prstGeom prst="rect">
            <a:avLst/>
          </a:prstGeom>
          <a:noFill/>
          <a:ln/>
        </p:spPr>
        <p:txBody>
          <a:bodyPr wrap="square" lIns="0" tIns="0" rIns="0" bIns="0" rtlCol="0" anchor="ctr"/>
          <a:lstStyle/>
          <a:p>
            <a:pPr indent="0" marL="0">
              <a:buNone/>
            </a:pPr>
            <a:r>
              <a:rPr lang="en-US" sz="1300" dirty="0">
                <a:solidFill>
                  <a:srgbClr val="9BB3C7"/>
                </a:solidFill>
                <a:latin typeface="Consolas" pitchFamily="34" charset="0"/>
                <a:ea typeface="Consolas" pitchFamily="34" charset="-122"/>
                <a:cs typeface="Consolas" pitchFamily="34" charset="-120"/>
              </a:rPr>
              <a:t>Angular  ·  NestJS  ·  PostgreSQL  ·  Keycloak  ·  Redis  ·  Kubernetes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1064240" cy="658368"/>
          </a:xfrm>
          <a:prstGeom prst="rect">
            <a:avLst/>
          </a:prstGeom>
          <a:noFill/>
          <a:ln/>
        </p:spPr>
        <p:txBody>
          <a:bodyPr wrap="square" lIns="0" tIns="0" rIns="0" bIns="0" rtlCol="0" anchor="ctr"/>
          <a:lstStyle/>
          <a:p>
            <a:pPr indent="0" marL="0">
              <a:buNone/>
            </a:pPr>
            <a:r>
              <a:rPr lang="en-US" sz="3300" b="1" dirty="0">
                <a:solidFill>
                  <a:srgbClr val="21295C"/>
                </a:solidFill>
                <a:latin typeface="Cambria" pitchFamily="34" charset="0"/>
                <a:ea typeface="Cambria" pitchFamily="34" charset="-122"/>
                <a:cs typeface="Cambria" pitchFamily="34" charset="-120"/>
              </a:rPr>
              <a:t>Technology Stack</a:t>
            </a:r>
            <a:endParaRPr lang="en-US" sz="3300" dirty="0"/>
          </a:p>
        </p:txBody>
      </p:sp>
      <p:sp>
        <p:nvSpPr>
          <p:cNvPr id="3" name="Text 1"/>
          <p:cNvSpPr txBox="1"/>
          <p:nvPr/>
        </p:nvSpPr>
        <p:spPr>
          <a:xfrm>
            <a:off x="548640" y="1024128"/>
            <a:ext cx="11064240" cy="347472"/>
          </a:xfrm>
          <a:prstGeom prst="rect">
            <a:avLst/>
          </a:prstGeom>
          <a:noFill/>
          <a:ln/>
        </p:spPr>
        <p:txBody>
          <a:bodyPr wrap="square" lIns="0" tIns="0" rIns="0" bIns="0" rtlCol="0" anchor="ctr"/>
          <a:lstStyle/>
          <a:p>
            <a:pPr indent="0" marL="0">
              <a:buNone/>
            </a:pPr>
            <a:r>
              <a:rPr lang="en-US" sz="1350" dirty="0">
                <a:solidFill>
                  <a:srgbClr val="5A6B7A"/>
                </a:solidFill>
                <a:latin typeface="Calibri" pitchFamily="34" charset="0"/>
                <a:ea typeface="Calibri" pitchFamily="34" charset="-122"/>
                <a:cs typeface="Calibri" pitchFamily="34" charset="-120"/>
              </a:rPr>
              <a:t>Decided — with the reasoning, since some of it is deliberate</a:t>
            </a:r>
            <a:endParaRPr lang="en-US" sz="1350" dirty="0"/>
          </a:p>
        </p:txBody>
      </p:sp>
      <p:sp>
        <p:nvSpPr>
          <p:cNvPr id="4" name="Shape 2"/>
          <p:cNvSpPr/>
          <p:nvPr/>
        </p:nvSpPr>
        <p:spPr>
          <a:xfrm>
            <a:off x="548640" y="1572768"/>
            <a:ext cx="5349240" cy="1298448"/>
          </a:xfrm>
          <a:prstGeom prst="roundRect">
            <a:avLst>
              <a:gd name="adj" fmla="val 4225"/>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5" name="Shape 3"/>
          <p:cNvSpPr/>
          <p:nvPr/>
        </p:nvSpPr>
        <p:spPr>
          <a:xfrm>
            <a:off x="548640" y="1572768"/>
            <a:ext cx="64008" cy="1298448"/>
          </a:xfrm>
          <a:prstGeom prst="rect">
            <a:avLst/>
          </a:prstGeom>
          <a:solidFill>
            <a:srgbClr val="065A82"/>
          </a:solidFill>
          <a:ln w="12700">
            <a:solidFill>
              <a:srgbClr val="065A82"/>
            </a:solidFill>
            <a:prstDash val="solid"/>
          </a:ln>
        </p:spPr>
      </p:sp>
      <p:sp>
        <p:nvSpPr>
          <p:cNvPr id="6" name="Text 4"/>
          <p:cNvSpPr txBox="1"/>
          <p:nvPr/>
        </p:nvSpPr>
        <p:spPr>
          <a:xfrm>
            <a:off x="841248" y="1719072"/>
            <a:ext cx="2194560" cy="329184"/>
          </a:xfrm>
          <a:prstGeom prst="rect">
            <a:avLst/>
          </a:prstGeom>
          <a:noFill/>
          <a:ln/>
        </p:spPr>
        <p:txBody>
          <a:bodyPr wrap="square" lIns="0" tIns="0" rIns="0" bIns="0" rtlCol="0" anchor="ctr"/>
          <a:lstStyle/>
          <a:p>
            <a:pPr indent="0" marL="0">
              <a:buNone/>
            </a:pPr>
            <a:r>
              <a:rPr lang="en-US" sz="1600" b="1" dirty="0">
                <a:solidFill>
                  <a:srgbClr val="065A82"/>
                </a:solidFill>
                <a:latin typeface="Consolas" pitchFamily="34" charset="0"/>
                <a:ea typeface="Consolas" pitchFamily="34" charset="-122"/>
                <a:cs typeface="Consolas" pitchFamily="34" charset="-120"/>
              </a:rPr>
              <a:t>Angular</a:t>
            </a:r>
            <a:endParaRPr lang="en-US" sz="1600" dirty="0"/>
          </a:p>
        </p:txBody>
      </p:sp>
      <p:sp>
        <p:nvSpPr>
          <p:cNvPr id="7" name="Text 5"/>
          <p:cNvSpPr txBox="1"/>
          <p:nvPr/>
        </p:nvSpPr>
        <p:spPr>
          <a:xfrm>
            <a:off x="3108960" y="1737360"/>
            <a:ext cx="2560320" cy="274320"/>
          </a:xfrm>
          <a:prstGeom prst="rect">
            <a:avLst/>
          </a:prstGeom>
          <a:noFill/>
          <a:ln/>
        </p:spPr>
        <p:txBody>
          <a:bodyPr wrap="square" lIns="0" tIns="0" rIns="0" bIns="0" rtlCol="0" anchor="ctr"/>
          <a:lstStyle/>
          <a:p>
            <a:pPr algn="r" indent="0" marL="0">
              <a:buNone/>
            </a:pPr>
            <a:r>
              <a:rPr lang="en-US" sz="1100" dirty="0">
                <a:solidFill>
                  <a:srgbClr val="1C7293"/>
                </a:solidFill>
                <a:latin typeface="Calibri" pitchFamily="34" charset="0"/>
                <a:ea typeface="Calibri" pitchFamily="34" charset="-122"/>
                <a:cs typeface="Calibri" pitchFamily="34" charset="-120"/>
              </a:rPr>
              <a:t>Frontend</a:t>
            </a:r>
            <a:endParaRPr lang="en-US" sz="1100" dirty="0"/>
          </a:p>
        </p:txBody>
      </p:sp>
      <p:sp>
        <p:nvSpPr>
          <p:cNvPr id="8" name="Text 6"/>
          <p:cNvSpPr txBox="1"/>
          <p:nvPr/>
        </p:nvSpPr>
        <p:spPr>
          <a:xfrm>
            <a:off x="841248" y="2103120"/>
            <a:ext cx="4800600" cy="65836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Strong forms handling (HR is form-heavy), built-in i18n, opinionated structure that scales across a team.</a:t>
            </a:r>
            <a:endParaRPr lang="en-US" sz="1150" dirty="0"/>
          </a:p>
        </p:txBody>
      </p:sp>
      <p:sp>
        <p:nvSpPr>
          <p:cNvPr id="9" name="Shape 7"/>
          <p:cNvSpPr/>
          <p:nvPr/>
        </p:nvSpPr>
        <p:spPr>
          <a:xfrm>
            <a:off x="6217920" y="1572768"/>
            <a:ext cx="5349240" cy="1298448"/>
          </a:xfrm>
          <a:prstGeom prst="roundRect">
            <a:avLst>
              <a:gd name="adj" fmla="val 4225"/>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10" name="Shape 8"/>
          <p:cNvSpPr/>
          <p:nvPr/>
        </p:nvSpPr>
        <p:spPr>
          <a:xfrm>
            <a:off x="6217920" y="1572768"/>
            <a:ext cx="64008" cy="1298448"/>
          </a:xfrm>
          <a:prstGeom prst="rect">
            <a:avLst/>
          </a:prstGeom>
          <a:solidFill>
            <a:srgbClr val="065A82"/>
          </a:solidFill>
          <a:ln w="12700">
            <a:solidFill>
              <a:srgbClr val="065A82"/>
            </a:solidFill>
            <a:prstDash val="solid"/>
          </a:ln>
        </p:spPr>
      </p:sp>
      <p:sp>
        <p:nvSpPr>
          <p:cNvPr id="11" name="Text 9"/>
          <p:cNvSpPr txBox="1"/>
          <p:nvPr/>
        </p:nvSpPr>
        <p:spPr>
          <a:xfrm>
            <a:off x="6510528" y="1719072"/>
            <a:ext cx="2194560" cy="329184"/>
          </a:xfrm>
          <a:prstGeom prst="rect">
            <a:avLst/>
          </a:prstGeom>
          <a:noFill/>
          <a:ln/>
        </p:spPr>
        <p:txBody>
          <a:bodyPr wrap="square" lIns="0" tIns="0" rIns="0" bIns="0" rtlCol="0" anchor="ctr"/>
          <a:lstStyle/>
          <a:p>
            <a:pPr indent="0" marL="0">
              <a:buNone/>
            </a:pPr>
            <a:r>
              <a:rPr lang="en-US" sz="1600" b="1" dirty="0">
                <a:solidFill>
                  <a:srgbClr val="065A82"/>
                </a:solidFill>
                <a:latin typeface="Consolas" pitchFamily="34" charset="0"/>
                <a:ea typeface="Consolas" pitchFamily="34" charset="-122"/>
                <a:cs typeface="Consolas" pitchFamily="34" charset="-120"/>
              </a:rPr>
              <a:t>NestJS</a:t>
            </a:r>
            <a:endParaRPr lang="en-US" sz="1600" dirty="0"/>
          </a:p>
        </p:txBody>
      </p:sp>
      <p:sp>
        <p:nvSpPr>
          <p:cNvPr id="12" name="Text 10"/>
          <p:cNvSpPr txBox="1"/>
          <p:nvPr/>
        </p:nvSpPr>
        <p:spPr>
          <a:xfrm>
            <a:off x="8778240" y="1737360"/>
            <a:ext cx="2560320" cy="274320"/>
          </a:xfrm>
          <a:prstGeom prst="rect">
            <a:avLst/>
          </a:prstGeom>
          <a:noFill/>
          <a:ln/>
        </p:spPr>
        <p:txBody>
          <a:bodyPr wrap="square" lIns="0" tIns="0" rIns="0" bIns="0" rtlCol="0" anchor="ctr"/>
          <a:lstStyle/>
          <a:p>
            <a:pPr algn="r" indent="0" marL="0">
              <a:buNone/>
            </a:pPr>
            <a:r>
              <a:rPr lang="en-US" sz="1100" dirty="0">
                <a:solidFill>
                  <a:srgbClr val="1C7293"/>
                </a:solidFill>
                <a:latin typeface="Calibri" pitchFamily="34" charset="0"/>
                <a:ea typeface="Calibri" pitchFamily="34" charset="-122"/>
                <a:cs typeface="Calibri" pitchFamily="34" charset="-120"/>
              </a:rPr>
              <a:t>Backend</a:t>
            </a:r>
            <a:endParaRPr lang="en-US" sz="1100" dirty="0"/>
          </a:p>
        </p:txBody>
      </p:sp>
      <p:sp>
        <p:nvSpPr>
          <p:cNvPr id="13" name="Text 11"/>
          <p:cNvSpPr txBox="1"/>
          <p:nvPr/>
        </p:nvSpPr>
        <p:spPr>
          <a:xfrm>
            <a:off x="6510528" y="2103120"/>
            <a:ext cx="4800600" cy="65836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DI + modular structure, guards map directly onto entitlement checks, mature job scheduling. Shares Angular conventions.</a:t>
            </a:r>
            <a:endParaRPr lang="en-US" sz="1150" dirty="0"/>
          </a:p>
        </p:txBody>
      </p:sp>
      <p:sp>
        <p:nvSpPr>
          <p:cNvPr id="14" name="Shape 12"/>
          <p:cNvSpPr/>
          <p:nvPr/>
        </p:nvSpPr>
        <p:spPr>
          <a:xfrm>
            <a:off x="548640" y="3063240"/>
            <a:ext cx="5349240" cy="1298448"/>
          </a:xfrm>
          <a:prstGeom prst="roundRect">
            <a:avLst>
              <a:gd name="adj" fmla="val 4225"/>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15" name="Shape 13"/>
          <p:cNvSpPr/>
          <p:nvPr/>
        </p:nvSpPr>
        <p:spPr>
          <a:xfrm>
            <a:off x="548640" y="3063240"/>
            <a:ext cx="64008" cy="1298448"/>
          </a:xfrm>
          <a:prstGeom prst="rect">
            <a:avLst/>
          </a:prstGeom>
          <a:solidFill>
            <a:srgbClr val="065A82"/>
          </a:solidFill>
          <a:ln w="12700">
            <a:solidFill>
              <a:srgbClr val="065A82"/>
            </a:solidFill>
            <a:prstDash val="solid"/>
          </a:ln>
        </p:spPr>
      </p:sp>
      <p:sp>
        <p:nvSpPr>
          <p:cNvPr id="16" name="Text 14"/>
          <p:cNvSpPr txBox="1"/>
          <p:nvPr/>
        </p:nvSpPr>
        <p:spPr>
          <a:xfrm>
            <a:off x="841248" y="3209544"/>
            <a:ext cx="2194560" cy="329184"/>
          </a:xfrm>
          <a:prstGeom prst="rect">
            <a:avLst/>
          </a:prstGeom>
          <a:noFill/>
          <a:ln/>
        </p:spPr>
        <p:txBody>
          <a:bodyPr wrap="square" lIns="0" tIns="0" rIns="0" bIns="0" rtlCol="0" anchor="ctr"/>
          <a:lstStyle/>
          <a:p>
            <a:pPr indent="0" marL="0">
              <a:buNone/>
            </a:pPr>
            <a:r>
              <a:rPr lang="en-US" sz="1600" b="1" dirty="0">
                <a:solidFill>
                  <a:srgbClr val="065A82"/>
                </a:solidFill>
                <a:latin typeface="Consolas" pitchFamily="34" charset="0"/>
                <a:ea typeface="Consolas" pitchFamily="34" charset="-122"/>
                <a:cs typeface="Consolas" pitchFamily="34" charset="-120"/>
              </a:rPr>
              <a:t>PostgreSQL</a:t>
            </a:r>
            <a:endParaRPr lang="en-US" sz="1600" dirty="0"/>
          </a:p>
        </p:txBody>
      </p:sp>
      <p:sp>
        <p:nvSpPr>
          <p:cNvPr id="17" name="Text 15"/>
          <p:cNvSpPr txBox="1"/>
          <p:nvPr/>
        </p:nvSpPr>
        <p:spPr>
          <a:xfrm>
            <a:off x="3108960" y="3227832"/>
            <a:ext cx="2560320" cy="274320"/>
          </a:xfrm>
          <a:prstGeom prst="rect">
            <a:avLst/>
          </a:prstGeom>
          <a:noFill/>
          <a:ln/>
        </p:spPr>
        <p:txBody>
          <a:bodyPr wrap="square" lIns="0" tIns="0" rIns="0" bIns="0" rtlCol="0" anchor="ctr"/>
          <a:lstStyle/>
          <a:p>
            <a:pPr algn="r" indent="0" marL="0">
              <a:buNone/>
            </a:pPr>
            <a:r>
              <a:rPr lang="en-US" sz="1100" dirty="0">
                <a:solidFill>
                  <a:srgbClr val="1C7293"/>
                </a:solidFill>
                <a:latin typeface="Calibri" pitchFamily="34" charset="0"/>
                <a:ea typeface="Calibri" pitchFamily="34" charset="-122"/>
                <a:cs typeface="Calibri" pitchFamily="34" charset="-120"/>
              </a:rPr>
              <a:t>Database</a:t>
            </a:r>
            <a:endParaRPr lang="en-US" sz="1100" dirty="0"/>
          </a:p>
        </p:txBody>
      </p:sp>
      <p:sp>
        <p:nvSpPr>
          <p:cNvPr id="18" name="Text 16"/>
          <p:cNvSpPr txBox="1"/>
          <p:nvPr/>
        </p:nvSpPr>
        <p:spPr>
          <a:xfrm>
            <a:off x="841248" y="3593592"/>
            <a:ext cx="4800600" cy="65836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Best-in-class Row-Level Security — core to our tenant isolation design.</a:t>
            </a:r>
            <a:endParaRPr lang="en-US" sz="1150" dirty="0"/>
          </a:p>
        </p:txBody>
      </p:sp>
      <p:sp>
        <p:nvSpPr>
          <p:cNvPr id="19" name="Shape 17"/>
          <p:cNvSpPr/>
          <p:nvPr/>
        </p:nvSpPr>
        <p:spPr>
          <a:xfrm>
            <a:off x="6217920" y="3063240"/>
            <a:ext cx="5349240" cy="1298448"/>
          </a:xfrm>
          <a:prstGeom prst="roundRect">
            <a:avLst>
              <a:gd name="adj" fmla="val 4225"/>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20" name="Shape 18"/>
          <p:cNvSpPr/>
          <p:nvPr/>
        </p:nvSpPr>
        <p:spPr>
          <a:xfrm>
            <a:off x="6217920" y="3063240"/>
            <a:ext cx="64008" cy="1298448"/>
          </a:xfrm>
          <a:prstGeom prst="rect">
            <a:avLst/>
          </a:prstGeom>
          <a:solidFill>
            <a:srgbClr val="065A82"/>
          </a:solidFill>
          <a:ln w="12700">
            <a:solidFill>
              <a:srgbClr val="065A82"/>
            </a:solidFill>
            <a:prstDash val="solid"/>
          </a:ln>
        </p:spPr>
      </p:sp>
      <p:sp>
        <p:nvSpPr>
          <p:cNvPr id="21" name="Text 19"/>
          <p:cNvSpPr txBox="1"/>
          <p:nvPr/>
        </p:nvSpPr>
        <p:spPr>
          <a:xfrm>
            <a:off x="6510528" y="3209544"/>
            <a:ext cx="2194560" cy="329184"/>
          </a:xfrm>
          <a:prstGeom prst="rect">
            <a:avLst/>
          </a:prstGeom>
          <a:noFill/>
          <a:ln/>
        </p:spPr>
        <p:txBody>
          <a:bodyPr wrap="square" lIns="0" tIns="0" rIns="0" bIns="0" rtlCol="0" anchor="ctr"/>
          <a:lstStyle/>
          <a:p>
            <a:pPr indent="0" marL="0">
              <a:buNone/>
            </a:pPr>
            <a:r>
              <a:rPr lang="en-US" sz="1600" b="1" dirty="0">
                <a:solidFill>
                  <a:srgbClr val="065A82"/>
                </a:solidFill>
                <a:latin typeface="Consolas" pitchFamily="34" charset="0"/>
                <a:ea typeface="Consolas" pitchFamily="34" charset="-122"/>
                <a:cs typeface="Consolas" pitchFamily="34" charset="-120"/>
              </a:rPr>
              <a:t>Keycloak</a:t>
            </a:r>
            <a:endParaRPr lang="en-US" sz="1600" dirty="0"/>
          </a:p>
        </p:txBody>
      </p:sp>
      <p:sp>
        <p:nvSpPr>
          <p:cNvPr id="22" name="Text 20"/>
          <p:cNvSpPr txBox="1"/>
          <p:nvPr/>
        </p:nvSpPr>
        <p:spPr>
          <a:xfrm>
            <a:off x="8778240" y="3227832"/>
            <a:ext cx="2560320" cy="274320"/>
          </a:xfrm>
          <a:prstGeom prst="rect">
            <a:avLst/>
          </a:prstGeom>
          <a:noFill/>
          <a:ln/>
        </p:spPr>
        <p:txBody>
          <a:bodyPr wrap="square" lIns="0" tIns="0" rIns="0" bIns="0" rtlCol="0" anchor="ctr"/>
          <a:lstStyle/>
          <a:p>
            <a:pPr algn="r" indent="0" marL="0">
              <a:buNone/>
            </a:pPr>
            <a:r>
              <a:rPr lang="en-US" sz="1100" dirty="0">
                <a:solidFill>
                  <a:srgbClr val="1C7293"/>
                </a:solidFill>
                <a:latin typeface="Calibri" pitchFamily="34" charset="0"/>
                <a:ea typeface="Calibri" pitchFamily="34" charset="-122"/>
                <a:cs typeface="Calibri" pitchFamily="34" charset="-120"/>
              </a:rPr>
              <a:t>Identity</a:t>
            </a:r>
            <a:endParaRPr lang="en-US" sz="1100" dirty="0"/>
          </a:p>
        </p:txBody>
      </p:sp>
      <p:sp>
        <p:nvSpPr>
          <p:cNvPr id="23" name="Text 21"/>
          <p:cNvSpPr txBox="1"/>
          <p:nvPr/>
        </p:nvSpPr>
        <p:spPr>
          <a:xfrm>
            <a:off x="6510528" y="3593592"/>
            <a:ext cx="4800600" cy="65836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OIDC/OAuth2, SSO, LDAP federation for enterprise clients later.</a:t>
            </a:r>
            <a:endParaRPr lang="en-US" sz="1150" dirty="0"/>
          </a:p>
        </p:txBody>
      </p:sp>
      <p:sp>
        <p:nvSpPr>
          <p:cNvPr id="24" name="Shape 22"/>
          <p:cNvSpPr/>
          <p:nvPr/>
        </p:nvSpPr>
        <p:spPr>
          <a:xfrm>
            <a:off x="548640" y="4553712"/>
            <a:ext cx="5349240" cy="1298448"/>
          </a:xfrm>
          <a:prstGeom prst="roundRect">
            <a:avLst>
              <a:gd name="adj" fmla="val 4225"/>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25" name="Shape 23"/>
          <p:cNvSpPr/>
          <p:nvPr/>
        </p:nvSpPr>
        <p:spPr>
          <a:xfrm>
            <a:off x="548640" y="4553712"/>
            <a:ext cx="64008" cy="1298448"/>
          </a:xfrm>
          <a:prstGeom prst="rect">
            <a:avLst/>
          </a:prstGeom>
          <a:solidFill>
            <a:srgbClr val="065A82"/>
          </a:solidFill>
          <a:ln w="12700">
            <a:solidFill>
              <a:srgbClr val="065A82"/>
            </a:solidFill>
            <a:prstDash val="solid"/>
          </a:ln>
        </p:spPr>
      </p:sp>
      <p:sp>
        <p:nvSpPr>
          <p:cNvPr id="26" name="Text 24"/>
          <p:cNvSpPr txBox="1"/>
          <p:nvPr/>
        </p:nvSpPr>
        <p:spPr>
          <a:xfrm>
            <a:off x="841248" y="4700016"/>
            <a:ext cx="2194560" cy="329184"/>
          </a:xfrm>
          <a:prstGeom prst="rect">
            <a:avLst/>
          </a:prstGeom>
          <a:noFill/>
          <a:ln/>
        </p:spPr>
        <p:txBody>
          <a:bodyPr wrap="square" lIns="0" tIns="0" rIns="0" bIns="0" rtlCol="0" anchor="ctr"/>
          <a:lstStyle/>
          <a:p>
            <a:pPr indent="0" marL="0">
              <a:buNone/>
            </a:pPr>
            <a:r>
              <a:rPr lang="en-US" sz="1600" b="1" dirty="0">
                <a:solidFill>
                  <a:srgbClr val="065A82"/>
                </a:solidFill>
                <a:latin typeface="Consolas" pitchFamily="34" charset="0"/>
                <a:ea typeface="Consolas" pitchFamily="34" charset="-122"/>
                <a:cs typeface="Consolas" pitchFamily="34" charset="-120"/>
              </a:rPr>
              <a:t>Redis</a:t>
            </a:r>
            <a:endParaRPr lang="en-US" sz="1600" dirty="0"/>
          </a:p>
        </p:txBody>
      </p:sp>
      <p:sp>
        <p:nvSpPr>
          <p:cNvPr id="27" name="Text 25"/>
          <p:cNvSpPr txBox="1"/>
          <p:nvPr/>
        </p:nvSpPr>
        <p:spPr>
          <a:xfrm>
            <a:off x="3108960" y="4718304"/>
            <a:ext cx="2560320" cy="274320"/>
          </a:xfrm>
          <a:prstGeom prst="rect">
            <a:avLst/>
          </a:prstGeom>
          <a:noFill/>
          <a:ln/>
        </p:spPr>
        <p:txBody>
          <a:bodyPr wrap="square" lIns="0" tIns="0" rIns="0" bIns="0" rtlCol="0" anchor="ctr"/>
          <a:lstStyle/>
          <a:p>
            <a:pPr algn="r" indent="0" marL="0">
              <a:buNone/>
            </a:pPr>
            <a:r>
              <a:rPr lang="en-US" sz="1100" dirty="0">
                <a:solidFill>
                  <a:srgbClr val="1C7293"/>
                </a:solidFill>
                <a:latin typeface="Calibri" pitchFamily="34" charset="0"/>
                <a:ea typeface="Calibri" pitchFamily="34" charset="-122"/>
                <a:cs typeface="Calibri" pitchFamily="34" charset="-120"/>
              </a:rPr>
              <a:t>Cache</a:t>
            </a:r>
            <a:endParaRPr lang="en-US" sz="1100" dirty="0"/>
          </a:p>
        </p:txBody>
      </p:sp>
      <p:sp>
        <p:nvSpPr>
          <p:cNvPr id="28" name="Text 26"/>
          <p:cNvSpPr txBox="1"/>
          <p:nvPr/>
        </p:nvSpPr>
        <p:spPr>
          <a:xfrm>
            <a:off x="841248" y="5084064"/>
            <a:ext cx="4800600" cy="65836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Per-request entitlement lookups at the gateway.</a:t>
            </a:r>
            <a:endParaRPr lang="en-US" sz="1150" dirty="0"/>
          </a:p>
        </p:txBody>
      </p:sp>
      <p:sp>
        <p:nvSpPr>
          <p:cNvPr id="29" name="Shape 27"/>
          <p:cNvSpPr/>
          <p:nvPr/>
        </p:nvSpPr>
        <p:spPr>
          <a:xfrm>
            <a:off x="6217920" y="4553712"/>
            <a:ext cx="5349240" cy="1298448"/>
          </a:xfrm>
          <a:prstGeom prst="roundRect">
            <a:avLst>
              <a:gd name="adj" fmla="val 4225"/>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30" name="Shape 28"/>
          <p:cNvSpPr/>
          <p:nvPr/>
        </p:nvSpPr>
        <p:spPr>
          <a:xfrm>
            <a:off x="6217920" y="4553712"/>
            <a:ext cx="64008" cy="1298448"/>
          </a:xfrm>
          <a:prstGeom prst="rect">
            <a:avLst/>
          </a:prstGeom>
          <a:solidFill>
            <a:srgbClr val="065A82"/>
          </a:solidFill>
          <a:ln w="12700">
            <a:solidFill>
              <a:srgbClr val="065A82"/>
            </a:solidFill>
            <a:prstDash val="solid"/>
          </a:ln>
        </p:spPr>
      </p:sp>
      <p:sp>
        <p:nvSpPr>
          <p:cNvPr id="31" name="Text 29"/>
          <p:cNvSpPr txBox="1"/>
          <p:nvPr/>
        </p:nvSpPr>
        <p:spPr>
          <a:xfrm>
            <a:off x="6510528" y="4700016"/>
            <a:ext cx="2194560" cy="329184"/>
          </a:xfrm>
          <a:prstGeom prst="rect">
            <a:avLst/>
          </a:prstGeom>
          <a:noFill/>
          <a:ln/>
        </p:spPr>
        <p:txBody>
          <a:bodyPr wrap="square" lIns="0" tIns="0" rIns="0" bIns="0" rtlCol="0" anchor="ctr"/>
          <a:lstStyle/>
          <a:p>
            <a:pPr indent="0" marL="0">
              <a:buNone/>
            </a:pPr>
            <a:r>
              <a:rPr lang="en-US" sz="1600" b="1" dirty="0">
                <a:solidFill>
                  <a:srgbClr val="065A82"/>
                </a:solidFill>
                <a:latin typeface="Consolas" pitchFamily="34" charset="0"/>
                <a:ea typeface="Consolas" pitchFamily="34" charset="-122"/>
                <a:cs typeface="Consolas" pitchFamily="34" charset="-120"/>
              </a:rPr>
              <a:t>Kubernetes</a:t>
            </a:r>
            <a:endParaRPr lang="en-US" sz="1600" dirty="0"/>
          </a:p>
        </p:txBody>
      </p:sp>
      <p:sp>
        <p:nvSpPr>
          <p:cNvPr id="32" name="Text 30"/>
          <p:cNvSpPr txBox="1"/>
          <p:nvPr/>
        </p:nvSpPr>
        <p:spPr>
          <a:xfrm>
            <a:off x="8778240" y="4718304"/>
            <a:ext cx="2560320" cy="274320"/>
          </a:xfrm>
          <a:prstGeom prst="rect">
            <a:avLst/>
          </a:prstGeom>
          <a:noFill/>
          <a:ln/>
        </p:spPr>
        <p:txBody>
          <a:bodyPr wrap="square" lIns="0" tIns="0" rIns="0" bIns="0" rtlCol="0" anchor="ctr"/>
          <a:lstStyle/>
          <a:p>
            <a:pPr algn="r" indent="0" marL="0">
              <a:buNone/>
            </a:pPr>
            <a:r>
              <a:rPr lang="en-US" sz="1100" dirty="0">
                <a:solidFill>
                  <a:srgbClr val="1C7293"/>
                </a:solidFill>
                <a:latin typeface="Calibri" pitchFamily="34" charset="0"/>
                <a:ea typeface="Calibri" pitchFamily="34" charset="-122"/>
                <a:cs typeface="Calibri" pitchFamily="34" charset="-120"/>
              </a:rPr>
              <a:t>Runtime</a:t>
            </a:r>
            <a:endParaRPr lang="en-US" sz="1100" dirty="0"/>
          </a:p>
        </p:txBody>
      </p:sp>
      <p:sp>
        <p:nvSpPr>
          <p:cNvPr id="33" name="Text 31"/>
          <p:cNvSpPr txBox="1"/>
          <p:nvPr/>
        </p:nvSpPr>
        <p:spPr>
          <a:xfrm>
            <a:off x="6510528" y="5084064"/>
            <a:ext cx="4800600" cy="65836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Per-service scaling, GitOps deployment, environment parity.</a:t>
            </a:r>
            <a:endParaRPr lang="en-US" sz="1150" dirty="0"/>
          </a:p>
        </p:txBody>
      </p:sp>
      <p:sp>
        <p:nvSpPr>
          <p:cNvPr id="34" name="Shape 32"/>
          <p:cNvSpPr/>
          <p:nvPr/>
        </p:nvSpPr>
        <p:spPr>
          <a:xfrm>
            <a:off x="548640" y="6053328"/>
            <a:ext cx="11064240" cy="566928"/>
          </a:xfrm>
          <a:prstGeom prst="roundRect">
            <a:avLst>
              <a:gd name="adj" fmla="val 9677"/>
            </a:avLst>
          </a:prstGeom>
          <a:solidFill>
            <a:srgbClr val="FDF4E3"/>
          </a:solidFill>
          <a:ln w="12700">
            <a:solidFill>
              <a:srgbClr val="F0DCB8"/>
            </a:solidFill>
            <a:prstDash val="solid"/>
          </a:ln>
        </p:spPr>
      </p:sp>
      <p:sp>
        <p:nvSpPr>
          <p:cNvPr id="35" name="Text 33"/>
          <p:cNvSpPr txBox="1"/>
          <p:nvPr/>
        </p:nvSpPr>
        <p:spPr>
          <a:xfrm>
            <a:off x="777240" y="6053328"/>
            <a:ext cx="10607040" cy="566928"/>
          </a:xfrm>
          <a:prstGeom prst="rect">
            <a:avLst/>
          </a:prstGeom>
          <a:noFill/>
          <a:ln/>
        </p:spPr>
        <p:txBody>
          <a:bodyPr wrap="square" lIns="0" tIns="0" rIns="0" bIns="0" rtlCol="0" anchor="ctr"/>
          <a:lstStyle/>
          <a:p>
            <a:pPr indent="0" marL="0">
              <a:buNone/>
            </a:pPr>
            <a:r>
              <a:rPr lang="en-US" sz="1100" dirty="0">
                <a:solidFill>
                  <a:srgbClr val="8A5A00"/>
                </a:solidFill>
                <a:latin typeface="Calibri" pitchFamily="34" charset="0"/>
                <a:ea typeface="Calibri" pitchFamily="34" charset="-122"/>
                <a:cs typeface="Calibri" pitchFamily="34" charset="-120"/>
              </a:rPr>
              <a:t>Note: Next.js was considered and rejected — it is a React frontend framework. With an Angular frontend it would serve purely as an API layer, losing its value and lacking DI, guards, and job scheduling.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1064240" cy="658368"/>
          </a:xfrm>
          <a:prstGeom prst="rect">
            <a:avLst/>
          </a:prstGeom>
          <a:noFill/>
          <a:ln/>
        </p:spPr>
        <p:txBody>
          <a:bodyPr wrap="square" lIns="0" tIns="0" rIns="0" bIns="0" rtlCol="0" anchor="ctr"/>
          <a:lstStyle/>
          <a:p>
            <a:pPr indent="0" marL="0">
              <a:buNone/>
            </a:pPr>
            <a:r>
              <a:rPr lang="en-US" sz="3300" b="1" dirty="0">
                <a:solidFill>
                  <a:srgbClr val="21295C"/>
                </a:solidFill>
                <a:latin typeface="Cambria" pitchFamily="34" charset="0"/>
                <a:ea typeface="Cambria" pitchFamily="34" charset="-122"/>
                <a:cs typeface="Cambria" pitchFamily="34" charset="-120"/>
              </a:rPr>
              <a:t>Request Architecture</a:t>
            </a:r>
            <a:endParaRPr lang="en-US" sz="3300" dirty="0"/>
          </a:p>
        </p:txBody>
      </p:sp>
      <p:sp>
        <p:nvSpPr>
          <p:cNvPr id="3" name="Text 1"/>
          <p:cNvSpPr txBox="1"/>
          <p:nvPr/>
        </p:nvSpPr>
        <p:spPr>
          <a:xfrm>
            <a:off x="548640" y="1024128"/>
            <a:ext cx="11064240" cy="347472"/>
          </a:xfrm>
          <a:prstGeom prst="rect">
            <a:avLst/>
          </a:prstGeom>
          <a:noFill/>
          <a:ln/>
        </p:spPr>
        <p:txBody>
          <a:bodyPr wrap="square" lIns="0" tIns="0" rIns="0" bIns="0" rtlCol="0" anchor="ctr"/>
          <a:lstStyle/>
          <a:p>
            <a:pPr indent="0" marL="0">
              <a:buNone/>
            </a:pPr>
            <a:r>
              <a:rPr lang="en-US" sz="1350" dirty="0">
                <a:solidFill>
                  <a:srgbClr val="5A6B7A"/>
                </a:solidFill>
                <a:latin typeface="Calibri" pitchFamily="34" charset="0"/>
                <a:ea typeface="Calibri" pitchFamily="34" charset="-122"/>
                <a:cs typeface="Calibri" pitchFamily="34" charset="-120"/>
              </a:rPr>
              <a:t>What happens on every single authenticated API call</a:t>
            </a:r>
            <a:endParaRPr lang="en-US" sz="1350" dirty="0"/>
          </a:p>
        </p:txBody>
      </p:sp>
      <p:sp>
        <p:nvSpPr>
          <p:cNvPr id="4" name="Shape 2"/>
          <p:cNvSpPr/>
          <p:nvPr/>
        </p:nvSpPr>
        <p:spPr>
          <a:xfrm>
            <a:off x="960120" y="1965960"/>
            <a:ext cx="1874520" cy="1417320"/>
          </a:xfrm>
          <a:prstGeom prst="roundRect">
            <a:avLst>
              <a:gd name="adj" fmla="val 5161"/>
            </a:avLst>
          </a:prstGeom>
          <a:solidFill>
            <a:srgbClr val="065A82"/>
          </a:solidFill>
          <a:ln w="12700">
            <a:solidFill>
              <a:srgbClr val="065A82"/>
            </a:solidFill>
            <a:prstDash val="solid"/>
          </a:ln>
        </p:spPr>
      </p:sp>
      <p:sp>
        <p:nvSpPr>
          <p:cNvPr id="5" name="Text 3"/>
          <p:cNvSpPr txBox="1"/>
          <p:nvPr/>
        </p:nvSpPr>
        <p:spPr>
          <a:xfrm>
            <a:off x="1051560" y="2121408"/>
            <a:ext cx="1691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Angular SPA</a:t>
            </a:r>
            <a:endParaRPr lang="en-US" sz="1300" dirty="0"/>
          </a:p>
        </p:txBody>
      </p:sp>
      <p:sp>
        <p:nvSpPr>
          <p:cNvPr id="6" name="Text 4"/>
          <p:cNvSpPr txBox="1"/>
          <p:nvPr/>
        </p:nvSpPr>
        <p:spPr>
          <a:xfrm>
            <a:off x="1051560" y="2606040"/>
            <a:ext cx="1691640" cy="658368"/>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Auth Code + PKCE</a:t>
            </a:r>
            <a:endParaRPr lang="en-US" sz="950" dirty="0"/>
          </a:p>
        </p:txBody>
      </p:sp>
      <p:sp>
        <p:nvSpPr>
          <p:cNvPr id="7" name="Shape 5"/>
          <p:cNvSpPr/>
          <p:nvPr/>
        </p:nvSpPr>
        <p:spPr>
          <a:xfrm>
            <a:off x="2880360" y="2542032"/>
            <a:ext cx="256032" cy="256032"/>
          </a:xfrm>
          <a:prstGeom prst="rightArrow">
            <a:avLst/>
          </a:prstGeom>
          <a:solidFill>
            <a:srgbClr val="9BB3C7"/>
          </a:solidFill>
          <a:ln w="12700">
            <a:solidFill>
              <a:srgbClr val="9BB3C7"/>
            </a:solidFill>
            <a:prstDash val="solid"/>
          </a:ln>
        </p:spPr>
      </p:sp>
      <p:sp>
        <p:nvSpPr>
          <p:cNvPr id="8" name="Shape 6"/>
          <p:cNvSpPr/>
          <p:nvPr/>
        </p:nvSpPr>
        <p:spPr>
          <a:xfrm>
            <a:off x="3154680" y="1965960"/>
            <a:ext cx="1874520" cy="1417320"/>
          </a:xfrm>
          <a:prstGeom prst="roundRect">
            <a:avLst>
              <a:gd name="adj" fmla="val 5161"/>
            </a:avLst>
          </a:prstGeom>
          <a:solidFill>
            <a:srgbClr val="065A82"/>
          </a:solidFill>
          <a:ln w="12700">
            <a:solidFill>
              <a:srgbClr val="065A82"/>
            </a:solidFill>
            <a:prstDash val="solid"/>
          </a:ln>
        </p:spPr>
      </p:sp>
      <p:sp>
        <p:nvSpPr>
          <p:cNvPr id="9" name="Text 7"/>
          <p:cNvSpPr txBox="1"/>
          <p:nvPr/>
        </p:nvSpPr>
        <p:spPr>
          <a:xfrm>
            <a:off x="3246120" y="2121408"/>
            <a:ext cx="1691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API Gateway</a:t>
            </a:r>
            <a:endParaRPr lang="en-US" sz="1300" dirty="0"/>
          </a:p>
        </p:txBody>
      </p:sp>
      <p:sp>
        <p:nvSpPr>
          <p:cNvPr id="10" name="Text 8"/>
          <p:cNvSpPr txBox="1"/>
          <p:nvPr/>
        </p:nvSpPr>
        <p:spPr>
          <a:xfrm>
            <a:off x="3246120" y="2606040"/>
            <a:ext cx="1691640" cy="658368"/>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JWT verify vs cached JWKS</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(no call to Keycloak)</a:t>
            </a:r>
            <a:endParaRPr lang="en-US" sz="950" dirty="0"/>
          </a:p>
        </p:txBody>
      </p:sp>
      <p:sp>
        <p:nvSpPr>
          <p:cNvPr id="11" name="Shape 9"/>
          <p:cNvSpPr/>
          <p:nvPr/>
        </p:nvSpPr>
        <p:spPr>
          <a:xfrm>
            <a:off x="5074920" y="2542032"/>
            <a:ext cx="256032" cy="256032"/>
          </a:xfrm>
          <a:prstGeom prst="rightArrow">
            <a:avLst/>
          </a:prstGeom>
          <a:solidFill>
            <a:srgbClr val="9BB3C7"/>
          </a:solidFill>
          <a:ln w="12700">
            <a:solidFill>
              <a:srgbClr val="9BB3C7"/>
            </a:solidFill>
            <a:prstDash val="solid"/>
          </a:ln>
        </p:spPr>
      </p:sp>
      <p:sp>
        <p:nvSpPr>
          <p:cNvPr id="12" name="Shape 10"/>
          <p:cNvSpPr/>
          <p:nvPr/>
        </p:nvSpPr>
        <p:spPr>
          <a:xfrm>
            <a:off x="5349240" y="1965960"/>
            <a:ext cx="1874520" cy="1417320"/>
          </a:xfrm>
          <a:prstGeom prst="roundRect">
            <a:avLst>
              <a:gd name="adj" fmla="val 5161"/>
            </a:avLst>
          </a:prstGeom>
          <a:solidFill>
            <a:srgbClr val="1C7293"/>
          </a:solidFill>
          <a:ln w="12700">
            <a:solidFill>
              <a:srgbClr val="1C7293"/>
            </a:solidFill>
            <a:prstDash val="solid"/>
          </a:ln>
        </p:spPr>
      </p:sp>
      <p:sp>
        <p:nvSpPr>
          <p:cNvPr id="13" name="Text 11"/>
          <p:cNvSpPr txBox="1"/>
          <p:nvPr/>
        </p:nvSpPr>
        <p:spPr>
          <a:xfrm>
            <a:off x="5440680" y="2121408"/>
            <a:ext cx="1691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Entitlement</a:t>
            </a:r>
            <a:endParaRPr lang="en-US" sz="1300" dirty="0"/>
          </a:p>
          <a:p>
            <a:pPr algn="ctr" indent="0" marL="0">
              <a:buNone/>
            </a:pPr>
            <a:r>
              <a:rPr lang="en-US" sz="1300" b="1" dirty="0">
                <a:solidFill>
                  <a:srgbClr val="FFFFFF"/>
                </a:solidFill>
                <a:latin typeface="Cambria" pitchFamily="34" charset="0"/>
                <a:ea typeface="Cambria" pitchFamily="34" charset="-122"/>
                <a:cs typeface="Cambria" pitchFamily="34" charset="-120"/>
              </a:rPr>
              <a:t>resolution</a:t>
            </a:r>
            <a:endParaRPr lang="en-US" sz="1300" dirty="0"/>
          </a:p>
        </p:txBody>
      </p:sp>
      <p:sp>
        <p:nvSpPr>
          <p:cNvPr id="14" name="Text 12"/>
          <p:cNvSpPr txBox="1"/>
          <p:nvPr/>
        </p:nvSpPr>
        <p:spPr>
          <a:xfrm>
            <a:off x="5440680" y="2606040"/>
            <a:ext cx="1691640" cy="658368"/>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1 Redis read</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forwarded as context</a:t>
            </a:r>
            <a:endParaRPr lang="en-US" sz="950" dirty="0"/>
          </a:p>
        </p:txBody>
      </p:sp>
      <p:sp>
        <p:nvSpPr>
          <p:cNvPr id="15" name="Shape 13"/>
          <p:cNvSpPr/>
          <p:nvPr/>
        </p:nvSpPr>
        <p:spPr>
          <a:xfrm>
            <a:off x="7269480" y="2542032"/>
            <a:ext cx="256032" cy="256032"/>
          </a:xfrm>
          <a:prstGeom prst="rightArrow">
            <a:avLst/>
          </a:prstGeom>
          <a:solidFill>
            <a:srgbClr val="9BB3C7"/>
          </a:solidFill>
          <a:ln w="12700">
            <a:solidFill>
              <a:srgbClr val="9BB3C7"/>
            </a:solidFill>
            <a:prstDash val="solid"/>
          </a:ln>
        </p:spPr>
      </p:sp>
      <p:sp>
        <p:nvSpPr>
          <p:cNvPr id="16" name="Shape 14"/>
          <p:cNvSpPr/>
          <p:nvPr/>
        </p:nvSpPr>
        <p:spPr>
          <a:xfrm>
            <a:off x="7543800" y="1965960"/>
            <a:ext cx="1874520" cy="1417320"/>
          </a:xfrm>
          <a:prstGeom prst="roundRect">
            <a:avLst>
              <a:gd name="adj" fmla="val 5161"/>
            </a:avLst>
          </a:prstGeom>
          <a:solidFill>
            <a:srgbClr val="1C7293"/>
          </a:solidFill>
          <a:ln w="12700">
            <a:solidFill>
              <a:srgbClr val="1C7293"/>
            </a:solidFill>
            <a:prstDash val="solid"/>
          </a:ln>
        </p:spPr>
      </p:sp>
      <p:sp>
        <p:nvSpPr>
          <p:cNvPr id="17" name="Text 15"/>
          <p:cNvSpPr txBox="1"/>
          <p:nvPr/>
        </p:nvSpPr>
        <p:spPr>
          <a:xfrm>
            <a:off x="7635240" y="2121408"/>
            <a:ext cx="1691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NestJS service</a:t>
            </a:r>
            <a:endParaRPr lang="en-US" sz="1300" dirty="0"/>
          </a:p>
        </p:txBody>
      </p:sp>
      <p:sp>
        <p:nvSpPr>
          <p:cNvPr id="18" name="Text 16"/>
          <p:cNvSpPr txBox="1"/>
          <p:nvPr/>
        </p:nvSpPr>
        <p:spPr>
          <a:xfrm>
            <a:off x="7635240" y="2606040"/>
            <a:ext cx="1691640" cy="658368"/>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Guard re-checks context</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absent = DENY</a:t>
            </a:r>
            <a:endParaRPr lang="en-US" sz="950" dirty="0"/>
          </a:p>
        </p:txBody>
      </p:sp>
      <p:sp>
        <p:nvSpPr>
          <p:cNvPr id="19" name="Shape 17"/>
          <p:cNvSpPr/>
          <p:nvPr/>
        </p:nvSpPr>
        <p:spPr>
          <a:xfrm>
            <a:off x="9464040" y="2542032"/>
            <a:ext cx="256032" cy="256032"/>
          </a:xfrm>
          <a:prstGeom prst="rightArrow">
            <a:avLst/>
          </a:prstGeom>
          <a:solidFill>
            <a:srgbClr val="9BB3C7"/>
          </a:solidFill>
          <a:ln w="12700">
            <a:solidFill>
              <a:srgbClr val="9BB3C7"/>
            </a:solidFill>
            <a:prstDash val="solid"/>
          </a:ln>
        </p:spPr>
      </p:sp>
      <p:sp>
        <p:nvSpPr>
          <p:cNvPr id="20" name="Shape 18"/>
          <p:cNvSpPr/>
          <p:nvPr/>
        </p:nvSpPr>
        <p:spPr>
          <a:xfrm>
            <a:off x="9738360" y="1965960"/>
            <a:ext cx="1874520" cy="1417320"/>
          </a:xfrm>
          <a:prstGeom prst="roundRect">
            <a:avLst>
              <a:gd name="adj" fmla="val 5161"/>
            </a:avLst>
          </a:prstGeom>
          <a:solidFill>
            <a:srgbClr val="21295C"/>
          </a:solidFill>
          <a:ln w="12700">
            <a:solidFill>
              <a:srgbClr val="21295C"/>
            </a:solidFill>
            <a:prstDash val="solid"/>
          </a:ln>
        </p:spPr>
      </p:sp>
      <p:sp>
        <p:nvSpPr>
          <p:cNvPr id="21" name="Text 19"/>
          <p:cNvSpPr txBox="1"/>
          <p:nvPr/>
        </p:nvSpPr>
        <p:spPr>
          <a:xfrm>
            <a:off x="9829800" y="2121408"/>
            <a:ext cx="1691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PostgreSQL</a:t>
            </a:r>
            <a:endParaRPr lang="en-US" sz="1300" dirty="0"/>
          </a:p>
        </p:txBody>
      </p:sp>
      <p:sp>
        <p:nvSpPr>
          <p:cNvPr id="22" name="Text 20"/>
          <p:cNvSpPr txBox="1"/>
          <p:nvPr/>
        </p:nvSpPr>
        <p:spPr>
          <a:xfrm>
            <a:off x="9829800" y="2606040"/>
            <a:ext cx="1691640" cy="658368"/>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RLS scopes every query</a:t>
            </a:r>
            <a:endParaRPr lang="en-US" sz="950" dirty="0"/>
          </a:p>
          <a:p>
            <a:pPr algn="ctr" indent="0" marL="0">
              <a:buNone/>
            </a:pPr>
            <a:r>
              <a:rPr lang="en-US" sz="950" dirty="0">
                <a:solidFill>
                  <a:srgbClr val="CADCFC"/>
                </a:solidFill>
                <a:latin typeface="Calibri" pitchFamily="34" charset="0"/>
                <a:ea typeface="Calibri" pitchFamily="34" charset="-122"/>
                <a:cs typeface="Calibri" pitchFamily="34" charset="-120"/>
              </a:rPr>
              <a:t>app.tenant_id session var</a:t>
            </a:r>
            <a:endParaRPr lang="en-US" sz="950" dirty="0"/>
          </a:p>
        </p:txBody>
      </p:sp>
      <p:sp>
        <p:nvSpPr>
          <p:cNvPr id="23" name="Shape 21"/>
          <p:cNvSpPr/>
          <p:nvPr/>
        </p:nvSpPr>
        <p:spPr>
          <a:xfrm>
            <a:off x="3154680" y="3703320"/>
            <a:ext cx="1874520" cy="731520"/>
          </a:xfrm>
          <a:prstGeom prst="roundRect">
            <a:avLst>
              <a:gd name="adj" fmla="val 7500"/>
            </a:avLst>
          </a:prstGeom>
          <a:solidFill>
            <a:srgbClr val="F4F7F9"/>
          </a:solidFill>
          <a:ln w="12700">
            <a:solidFill>
              <a:srgbClr val="C9D6DF"/>
            </a:solidFill>
            <a:prstDash val="solid"/>
          </a:ln>
        </p:spPr>
      </p:sp>
      <p:sp>
        <p:nvSpPr>
          <p:cNvPr id="24" name="Text 22"/>
          <p:cNvSpPr txBox="1"/>
          <p:nvPr/>
        </p:nvSpPr>
        <p:spPr>
          <a:xfrm>
            <a:off x="3200400" y="3703320"/>
            <a:ext cx="1783080" cy="731520"/>
          </a:xfrm>
          <a:prstGeom prst="rect">
            <a:avLst/>
          </a:prstGeom>
          <a:noFill/>
          <a:ln/>
        </p:spPr>
        <p:txBody>
          <a:bodyPr wrap="square" lIns="0" tIns="0" rIns="0" bIns="0" rtlCol="0" anchor="ctr"/>
          <a:lstStyle/>
          <a:p>
            <a:pPr algn="ctr" indent="0" marL="0">
              <a:buNone/>
            </a:pPr>
            <a:r>
              <a:rPr lang="en-US" sz="1000" dirty="0">
                <a:solidFill>
                  <a:srgbClr val="5A6B7A"/>
                </a:solidFill>
                <a:latin typeface="Calibri" pitchFamily="34" charset="0"/>
                <a:ea typeface="Calibri" pitchFamily="34" charset="-122"/>
                <a:cs typeface="Calibri" pitchFamily="34" charset="-120"/>
              </a:rPr>
              <a:t>Keycloak</a:t>
            </a:r>
            <a:endParaRPr lang="en-US" sz="1000" dirty="0"/>
          </a:p>
          <a:p>
            <a:pPr algn="ctr" indent="0" marL="0">
              <a:buNone/>
            </a:pPr>
            <a:r>
              <a:rPr lang="en-US" sz="1000" dirty="0">
                <a:solidFill>
                  <a:srgbClr val="5A6B7A"/>
                </a:solidFill>
                <a:latin typeface="Calibri" pitchFamily="34" charset="0"/>
                <a:ea typeface="Calibri" pitchFamily="34" charset="-122"/>
                <a:cs typeface="Calibri" pitchFamily="34" charset="-120"/>
              </a:rPr>
              <a:t>JWKS cached</a:t>
            </a:r>
            <a:endParaRPr lang="en-US" sz="1000" dirty="0"/>
          </a:p>
        </p:txBody>
      </p:sp>
      <p:sp>
        <p:nvSpPr>
          <p:cNvPr id="25" name="Shape 23"/>
          <p:cNvSpPr/>
          <p:nvPr/>
        </p:nvSpPr>
        <p:spPr>
          <a:xfrm>
            <a:off x="5349240" y="3703320"/>
            <a:ext cx="1874520" cy="731520"/>
          </a:xfrm>
          <a:prstGeom prst="roundRect">
            <a:avLst>
              <a:gd name="adj" fmla="val 7500"/>
            </a:avLst>
          </a:prstGeom>
          <a:solidFill>
            <a:srgbClr val="F4F7F9"/>
          </a:solidFill>
          <a:ln w="12700">
            <a:solidFill>
              <a:srgbClr val="C9D6DF"/>
            </a:solidFill>
            <a:prstDash val="solid"/>
          </a:ln>
        </p:spPr>
      </p:sp>
      <p:sp>
        <p:nvSpPr>
          <p:cNvPr id="26" name="Text 24"/>
          <p:cNvSpPr txBox="1"/>
          <p:nvPr/>
        </p:nvSpPr>
        <p:spPr>
          <a:xfrm>
            <a:off x="5394960" y="3703320"/>
            <a:ext cx="1783080" cy="731520"/>
          </a:xfrm>
          <a:prstGeom prst="rect">
            <a:avLst/>
          </a:prstGeom>
          <a:noFill/>
          <a:ln/>
        </p:spPr>
        <p:txBody>
          <a:bodyPr wrap="square" lIns="0" tIns="0" rIns="0" bIns="0" rtlCol="0" anchor="ctr"/>
          <a:lstStyle/>
          <a:p>
            <a:pPr algn="ctr" indent="0" marL="0">
              <a:buNone/>
            </a:pPr>
            <a:r>
              <a:rPr lang="en-US" sz="1000" dirty="0">
                <a:solidFill>
                  <a:srgbClr val="5A6B7A"/>
                </a:solidFill>
                <a:latin typeface="Calibri" pitchFamily="34" charset="0"/>
                <a:ea typeface="Calibri" pitchFamily="34" charset="-122"/>
                <a:cs typeface="Calibri" pitchFamily="34" charset="-120"/>
              </a:rPr>
              <a:t>Redis</a:t>
            </a:r>
            <a:endParaRPr lang="en-US" sz="1000" dirty="0"/>
          </a:p>
          <a:p>
            <a:pPr algn="ctr" indent="0" marL="0">
              <a:buNone/>
            </a:pPr>
            <a:r>
              <a:rPr lang="en-US" sz="1000" dirty="0">
                <a:solidFill>
                  <a:srgbClr val="5A6B7A"/>
                </a:solidFill>
                <a:latin typeface="Calibri" pitchFamily="34" charset="0"/>
                <a:ea typeface="Calibri" pitchFamily="34" charset="-122"/>
                <a:cs typeface="Calibri" pitchFamily="34" charset="-120"/>
              </a:rPr>
              <a:t>TTL 30–60s</a:t>
            </a:r>
            <a:endParaRPr lang="en-US" sz="1000" dirty="0"/>
          </a:p>
        </p:txBody>
      </p:sp>
      <p:sp>
        <p:nvSpPr>
          <p:cNvPr id="27" name="Shape 25"/>
          <p:cNvSpPr/>
          <p:nvPr/>
        </p:nvSpPr>
        <p:spPr>
          <a:xfrm>
            <a:off x="548640" y="4800600"/>
            <a:ext cx="3538728" cy="1417320"/>
          </a:xfrm>
          <a:prstGeom prst="roundRect">
            <a:avLst>
              <a:gd name="adj" fmla="val 3871"/>
            </a:avLst>
          </a:prstGeom>
          <a:solidFill>
            <a:srgbClr val="F4F7F9"/>
          </a:solidFill>
          <a:ln w="12700">
            <a:solidFill>
              <a:srgbClr val="DDE5EB"/>
            </a:solidFill>
            <a:prstDash val="solid"/>
          </a:ln>
        </p:spPr>
      </p:sp>
      <p:sp>
        <p:nvSpPr>
          <p:cNvPr id="28" name="Shape 26"/>
          <p:cNvSpPr/>
          <p:nvPr/>
        </p:nvSpPr>
        <p:spPr>
          <a:xfrm>
            <a:off x="777240" y="5029200"/>
            <a:ext cx="36576" cy="274320"/>
          </a:xfrm>
          <a:prstGeom prst="rect">
            <a:avLst/>
          </a:prstGeom>
          <a:solidFill>
            <a:srgbClr val="D98E04"/>
          </a:solidFill>
          <a:ln w="12700">
            <a:solidFill>
              <a:srgbClr val="D98E04"/>
            </a:solidFill>
            <a:prstDash val="solid"/>
          </a:ln>
        </p:spPr>
      </p:sp>
      <p:sp>
        <p:nvSpPr>
          <p:cNvPr id="29" name="Text 27"/>
          <p:cNvSpPr txBox="1"/>
          <p:nvPr/>
        </p:nvSpPr>
        <p:spPr>
          <a:xfrm>
            <a:off x="932688" y="4983480"/>
            <a:ext cx="2971800" cy="384048"/>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Token carries tenant_id + roles ONLY</a:t>
            </a:r>
            <a:endParaRPr lang="en-US" sz="1200" dirty="0"/>
          </a:p>
        </p:txBody>
      </p:sp>
      <p:sp>
        <p:nvSpPr>
          <p:cNvPr id="30" name="Text 28"/>
          <p:cNvSpPr txBox="1"/>
          <p:nvPr/>
        </p:nvSpPr>
        <p:spPr>
          <a:xfrm>
            <a:off x="932688" y="5413248"/>
            <a:ext cx="2971800" cy="713232"/>
          </a:xfrm>
          <a:prstGeom prst="rect">
            <a:avLst/>
          </a:prstGeom>
          <a:noFill/>
          <a:ln/>
        </p:spPr>
        <p:txBody>
          <a:bodyPr wrap="square" lIns="0" tIns="0" rIns="0" bIns="0" rtlCol="0" anchor="ctr"/>
          <a:lstStyle/>
          <a:p>
            <a:pPr indent="0" marL="0">
              <a:buNone/>
            </a:pPr>
            <a:r>
              <a:rPr lang="en-US" sz="1050" dirty="0">
                <a:solidFill>
                  <a:srgbClr val="5A6B7A"/>
                </a:solidFill>
                <a:latin typeface="Calibri" pitchFamily="34" charset="0"/>
                <a:ea typeface="Calibri" pitchFamily="34" charset="-122"/>
                <a:cs typeface="Calibri" pitchFamily="34" charset="-120"/>
              </a:rPr>
              <a:t>Keycloak knows nothing about packs or subscriptions. Entitlements are business data, resolved separately.</a:t>
            </a:r>
            <a:endParaRPr lang="en-US" sz="1050" dirty="0"/>
          </a:p>
        </p:txBody>
      </p:sp>
      <p:sp>
        <p:nvSpPr>
          <p:cNvPr id="31" name="Shape 29"/>
          <p:cNvSpPr/>
          <p:nvPr/>
        </p:nvSpPr>
        <p:spPr>
          <a:xfrm>
            <a:off x="4361688" y="4800600"/>
            <a:ext cx="3538728" cy="1417320"/>
          </a:xfrm>
          <a:prstGeom prst="roundRect">
            <a:avLst>
              <a:gd name="adj" fmla="val 3871"/>
            </a:avLst>
          </a:prstGeom>
          <a:solidFill>
            <a:srgbClr val="F4F7F9"/>
          </a:solidFill>
          <a:ln w="12700">
            <a:solidFill>
              <a:srgbClr val="DDE5EB"/>
            </a:solidFill>
            <a:prstDash val="solid"/>
          </a:ln>
        </p:spPr>
      </p:sp>
      <p:sp>
        <p:nvSpPr>
          <p:cNvPr id="32" name="Shape 30"/>
          <p:cNvSpPr/>
          <p:nvPr/>
        </p:nvSpPr>
        <p:spPr>
          <a:xfrm>
            <a:off x="4590288" y="5029200"/>
            <a:ext cx="36576" cy="274320"/>
          </a:xfrm>
          <a:prstGeom prst="rect">
            <a:avLst/>
          </a:prstGeom>
          <a:solidFill>
            <a:srgbClr val="D98E04"/>
          </a:solidFill>
          <a:ln w="12700">
            <a:solidFill>
              <a:srgbClr val="D98E04"/>
            </a:solidFill>
            <a:prstDash val="solid"/>
          </a:ln>
        </p:spPr>
      </p:sp>
      <p:sp>
        <p:nvSpPr>
          <p:cNvPr id="33" name="Text 31"/>
          <p:cNvSpPr txBox="1"/>
          <p:nvPr/>
        </p:nvSpPr>
        <p:spPr>
          <a:xfrm>
            <a:off x="4745736" y="4983480"/>
            <a:ext cx="2971800" cy="384048"/>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One Redis read per request</a:t>
            </a:r>
            <a:endParaRPr lang="en-US" sz="1200" dirty="0"/>
          </a:p>
        </p:txBody>
      </p:sp>
      <p:sp>
        <p:nvSpPr>
          <p:cNvPr id="34" name="Text 32"/>
          <p:cNvSpPr txBox="1"/>
          <p:nvPr/>
        </p:nvSpPr>
        <p:spPr>
          <a:xfrm>
            <a:off x="4745736" y="5413248"/>
            <a:ext cx="2971800" cy="713232"/>
          </a:xfrm>
          <a:prstGeom prst="rect">
            <a:avLst/>
          </a:prstGeom>
          <a:noFill/>
          <a:ln/>
        </p:spPr>
        <p:txBody>
          <a:bodyPr wrap="square" lIns="0" tIns="0" rIns="0" bIns="0" rtlCol="0" anchor="ctr"/>
          <a:lstStyle/>
          <a:p>
            <a:pPr indent="0" marL="0">
              <a:buNone/>
            </a:pPr>
            <a:r>
              <a:rPr lang="en-US" sz="1050" dirty="0">
                <a:solidFill>
                  <a:srgbClr val="5A6B7A"/>
                </a:solidFill>
                <a:latin typeface="Calibri" pitchFamily="34" charset="0"/>
                <a:ea typeface="Calibri" pitchFamily="34" charset="-122"/>
                <a:cs typeface="Calibri" pitchFamily="34" charset="-120"/>
              </a:rPr>
              <a:t>At the gateway. Services read from forwarded context — they do NOT call Redis again.</a:t>
            </a:r>
            <a:endParaRPr lang="en-US" sz="1050" dirty="0"/>
          </a:p>
        </p:txBody>
      </p:sp>
      <p:sp>
        <p:nvSpPr>
          <p:cNvPr id="35" name="Shape 33"/>
          <p:cNvSpPr/>
          <p:nvPr/>
        </p:nvSpPr>
        <p:spPr>
          <a:xfrm>
            <a:off x="8174736" y="4800600"/>
            <a:ext cx="3538728" cy="1417320"/>
          </a:xfrm>
          <a:prstGeom prst="roundRect">
            <a:avLst>
              <a:gd name="adj" fmla="val 3871"/>
            </a:avLst>
          </a:prstGeom>
          <a:solidFill>
            <a:srgbClr val="F4F7F9"/>
          </a:solidFill>
          <a:ln w="12700">
            <a:solidFill>
              <a:srgbClr val="DDE5EB"/>
            </a:solidFill>
            <a:prstDash val="solid"/>
          </a:ln>
        </p:spPr>
      </p:sp>
      <p:sp>
        <p:nvSpPr>
          <p:cNvPr id="36" name="Shape 34"/>
          <p:cNvSpPr/>
          <p:nvPr/>
        </p:nvSpPr>
        <p:spPr>
          <a:xfrm>
            <a:off x="8403336" y="5029200"/>
            <a:ext cx="36576" cy="274320"/>
          </a:xfrm>
          <a:prstGeom prst="rect">
            <a:avLst/>
          </a:prstGeom>
          <a:solidFill>
            <a:srgbClr val="D98E04"/>
          </a:solidFill>
          <a:ln w="12700">
            <a:solidFill>
              <a:srgbClr val="D98E04"/>
            </a:solidFill>
            <a:prstDash val="solid"/>
          </a:ln>
        </p:spPr>
      </p:sp>
      <p:sp>
        <p:nvSpPr>
          <p:cNvPr id="37" name="Text 35"/>
          <p:cNvSpPr txBox="1"/>
          <p:nvPr/>
        </p:nvSpPr>
        <p:spPr>
          <a:xfrm>
            <a:off x="8558784" y="4983480"/>
            <a:ext cx="2971800" cy="384048"/>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Fail closed</a:t>
            </a:r>
            <a:endParaRPr lang="en-US" sz="1200" dirty="0"/>
          </a:p>
        </p:txBody>
      </p:sp>
      <p:sp>
        <p:nvSpPr>
          <p:cNvPr id="38" name="Text 36"/>
          <p:cNvSpPr txBox="1"/>
          <p:nvPr/>
        </p:nvSpPr>
        <p:spPr>
          <a:xfrm>
            <a:off x="8558784" y="5413248"/>
            <a:ext cx="2971800" cy="713232"/>
          </a:xfrm>
          <a:prstGeom prst="rect">
            <a:avLst/>
          </a:prstGeom>
          <a:noFill/>
          <a:ln/>
        </p:spPr>
        <p:txBody>
          <a:bodyPr wrap="square" lIns="0" tIns="0" rIns="0" bIns="0" rtlCol="0" anchor="ctr"/>
          <a:lstStyle/>
          <a:p>
            <a:pPr indent="0" marL="0">
              <a:buNone/>
            </a:pPr>
            <a:r>
              <a:rPr lang="en-US" sz="1050" dirty="0">
                <a:solidFill>
                  <a:srgbClr val="5A6B7A"/>
                </a:solidFill>
                <a:latin typeface="Calibri" pitchFamily="34" charset="0"/>
                <a:ea typeface="Calibri" pitchFamily="34" charset="-122"/>
                <a:cs typeface="Calibri" pitchFamily="34" charset="-120"/>
              </a:rPr>
              <a:t>Missing entitlement context = deny. Protects routes reachable without traversing the gateway.</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1064240" cy="658368"/>
          </a:xfrm>
          <a:prstGeom prst="rect">
            <a:avLst/>
          </a:prstGeom>
          <a:noFill/>
          <a:ln/>
        </p:spPr>
        <p:txBody>
          <a:bodyPr wrap="square" lIns="0" tIns="0" rIns="0" bIns="0" rtlCol="0" anchor="ctr"/>
          <a:lstStyle/>
          <a:p>
            <a:pPr indent="0" marL="0">
              <a:buNone/>
            </a:pPr>
            <a:r>
              <a:rPr lang="en-US" sz="3300" b="1" dirty="0">
                <a:solidFill>
                  <a:srgbClr val="21295C"/>
                </a:solidFill>
                <a:latin typeface="Cambria" pitchFamily="34" charset="0"/>
                <a:ea typeface="Cambria" pitchFamily="34" charset="-122"/>
                <a:cs typeface="Cambria" pitchFamily="34" charset="-120"/>
              </a:rPr>
              <a:t>Multi-Tenancy &amp; Data Isolation</a:t>
            </a:r>
            <a:endParaRPr lang="en-US" sz="3300" dirty="0"/>
          </a:p>
        </p:txBody>
      </p:sp>
      <p:sp>
        <p:nvSpPr>
          <p:cNvPr id="3" name="Text 1"/>
          <p:cNvSpPr txBox="1"/>
          <p:nvPr/>
        </p:nvSpPr>
        <p:spPr>
          <a:xfrm>
            <a:off x="548640" y="1024128"/>
            <a:ext cx="11064240" cy="347472"/>
          </a:xfrm>
          <a:prstGeom prst="rect">
            <a:avLst/>
          </a:prstGeom>
          <a:noFill/>
          <a:ln/>
        </p:spPr>
        <p:txBody>
          <a:bodyPr wrap="square" lIns="0" tIns="0" rIns="0" bIns="0" rtlCol="0" anchor="ctr"/>
          <a:lstStyle/>
          <a:p>
            <a:pPr indent="0" marL="0">
              <a:buNone/>
            </a:pPr>
            <a:r>
              <a:rPr lang="en-US" sz="1350" dirty="0">
                <a:solidFill>
                  <a:srgbClr val="5A6B7A"/>
                </a:solidFill>
                <a:latin typeface="Calibri" pitchFamily="34" charset="0"/>
                <a:ea typeface="Calibri" pitchFamily="34" charset="-122"/>
                <a:cs typeface="Calibri" pitchFamily="34" charset="-120"/>
              </a:rPr>
              <a:t>Hybrid model — launching shared, dedicated DBs as a later premium tier</a:t>
            </a:r>
            <a:endParaRPr lang="en-US" sz="1350" dirty="0"/>
          </a:p>
        </p:txBody>
      </p:sp>
      <p:sp>
        <p:nvSpPr>
          <p:cNvPr id="4" name="Shape 2"/>
          <p:cNvSpPr/>
          <p:nvPr/>
        </p:nvSpPr>
        <p:spPr>
          <a:xfrm>
            <a:off x="548640" y="1600200"/>
            <a:ext cx="5394960" cy="2148840"/>
          </a:xfrm>
          <a:prstGeom prst="roundRect">
            <a:avLst>
              <a:gd name="adj" fmla="val 3404"/>
            </a:avLst>
          </a:prstGeom>
          <a:solidFill>
            <a:srgbClr val="E8F1E9"/>
          </a:solidFill>
          <a:ln w="12700">
            <a:solidFill>
              <a:srgbClr val="C3DDCB"/>
            </a:solidFill>
            <a:prstDash val="solid"/>
          </a:ln>
        </p:spPr>
      </p:sp>
      <p:sp>
        <p:nvSpPr>
          <p:cNvPr id="5" name="Text 3"/>
          <p:cNvSpPr txBox="1"/>
          <p:nvPr/>
        </p:nvSpPr>
        <p:spPr>
          <a:xfrm>
            <a:off x="822960" y="1755648"/>
            <a:ext cx="4846320" cy="274320"/>
          </a:xfrm>
          <a:prstGeom prst="rect">
            <a:avLst/>
          </a:prstGeom>
          <a:noFill/>
          <a:ln/>
        </p:spPr>
        <p:txBody>
          <a:bodyPr wrap="square" lIns="0" tIns="0" rIns="0" bIns="0" rtlCol="0" anchor="ctr"/>
          <a:lstStyle/>
          <a:p>
            <a:pPr indent="0" marL="0">
              <a:buNone/>
            </a:pPr>
            <a:r>
              <a:rPr lang="en-US" sz="1000" b="1" spc="100" kern="0" dirty="0">
                <a:solidFill>
                  <a:srgbClr val="2E7D5B"/>
                </a:solidFill>
                <a:latin typeface="Calibri" pitchFamily="34" charset="0"/>
                <a:ea typeface="Calibri" pitchFamily="34" charset="-122"/>
                <a:cs typeface="Calibri" pitchFamily="34" charset="-120"/>
              </a:rPr>
              <a:t>AT LAUNCH — shared</a:t>
            </a:r>
            <a:endParaRPr lang="en-US" sz="1000" dirty="0"/>
          </a:p>
        </p:txBody>
      </p:sp>
      <p:sp>
        <p:nvSpPr>
          <p:cNvPr id="6" name="Text 4"/>
          <p:cNvSpPr txBox="1"/>
          <p:nvPr/>
        </p:nvSpPr>
        <p:spPr>
          <a:xfrm>
            <a:off x="822960" y="2057400"/>
            <a:ext cx="4846320" cy="347472"/>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One PostgreSQL DB · tenant_id column · RLS</a:t>
            </a:r>
            <a:endParaRPr lang="en-US" sz="1500" dirty="0"/>
          </a:p>
        </p:txBody>
      </p:sp>
      <p:sp>
        <p:nvSpPr>
          <p:cNvPr id="7" name="Text 5"/>
          <p:cNvSpPr txBox="1"/>
          <p:nvPr/>
        </p:nvSpPr>
        <p:spPr>
          <a:xfrm>
            <a:off x="822960" y="2487168"/>
            <a:ext cx="4846320" cy="100584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Onboarding is an INSERT. One migration to run. Baseline per-DB cost avoided — decisive when targeting small enterprises.</a:t>
            </a:r>
            <a:endParaRPr lang="en-US" sz="1150" dirty="0"/>
          </a:p>
        </p:txBody>
      </p:sp>
      <p:sp>
        <p:nvSpPr>
          <p:cNvPr id="8" name="Shape 6"/>
          <p:cNvSpPr/>
          <p:nvPr/>
        </p:nvSpPr>
        <p:spPr>
          <a:xfrm>
            <a:off x="6217920" y="1600200"/>
            <a:ext cx="5394960" cy="2148840"/>
          </a:xfrm>
          <a:prstGeom prst="roundRect">
            <a:avLst>
              <a:gd name="adj" fmla="val 3404"/>
            </a:avLst>
          </a:prstGeom>
          <a:solidFill>
            <a:srgbClr val="F4F7F9"/>
          </a:solidFill>
          <a:ln w="12700">
            <a:solidFill>
              <a:srgbClr val="C9D6DF"/>
            </a:solidFill>
            <a:prstDash val="dash"/>
          </a:ln>
        </p:spPr>
      </p:sp>
      <p:sp>
        <p:nvSpPr>
          <p:cNvPr id="9" name="Text 7"/>
          <p:cNvSpPr txBox="1"/>
          <p:nvPr/>
        </p:nvSpPr>
        <p:spPr>
          <a:xfrm>
            <a:off x="6492240" y="1755648"/>
            <a:ext cx="4846320" cy="274320"/>
          </a:xfrm>
          <a:prstGeom prst="rect">
            <a:avLst/>
          </a:prstGeom>
          <a:noFill/>
          <a:ln/>
        </p:spPr>
        <p:txBody>
          <a:bodyPr wrap="square" lIns="0" tIns="0" rIns="0" bIns="0" rtlCol="0" anchor="ctr"/>
          <a:lstStyle/>
          <a:p>
            <a:pPr indent="0" marL="0">
              <a:buNone/>
            </a:pPr>
            <a:r>
              <a:rPr lang="en-US" sz="1000" b="1" spc="100" kern="0" dirty="0">
                <a:solidFill>
                  <a:srgbClr val="1C7293"/>
                </a:solidFill>
                <a:latin typeface="Calibri" pitchFamily="34" charset="0"/>
                <a:ea typeface="Calibri" pitchFamily="34" charset="-122"/>
                <a:cs typeface="Calibri" pitchFamily="34" charset="-120"/>
              </a:rPr>
              <a:t>LATER — dedicated (enterprise tier)</a:t>
            </a:r>
            <a:endParaRPr lang="en-US" sz="1000" dirty="0"/>
          </a:p>
        </p:txBody>
      </p:sp>
      <p:sp>
        <p:nvSpPr>
          <p:cNvPr id="10" name="Text 8"/>
          <p:cNvSpPr txBox="1"/>
          <p:nvPr/>
        </p:nvSpPr>
        <p:spPr>
          <a:xfrm>
            <a:off x="6492240" y="2057400"/>
            <a:ext cx="4846320" cy="347472"/>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DB per tenant · isolation_mode = dedicated</a:t>
            </a:r>
            <a:endParaRPr lang="en-US" sz="1500" dirty="0"/>
          </a:p>
        </p:txBody>
      </p:sp>
      <p:sp>
        <p:nvSpPr>
          <p:cNvPr id="11" name="Text 9"/>
          <p:cNvSpPr txBox="1"/>
          <p:nvPr/>
        </p:nvSpPr>
        <p:spPr>
          <a:xfrm>
            <a:off x="6492240" y="2487168"/>
            <a:ext cx="4846320" cy="1005840"/>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Built only on a real trigger: a contract requiring isolation, a noisy-neighbour client, or an enterprise tier launch. Never speculatively.</a:t>
            </a:r>
            <a:endParaRPr lang="en-US" sz="1150" dirty="0"/>
          </a:p>
        </p:txBody>
      </p:sp>
      <p:sp>
        <p:nvSpPr>
          <p:cNvPr id="12" name="Text 10"/>
          <p:cNvSpPr txBox="1"/>
          <p:nvPr/>
        </p:nvSpPr>
        <p:spPr>
          <a:xfrm>
            <a:off x="548640" y="3931920"/>
            <a:ext cx="11064240" cy="320040"/>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Five things built day one — this is what keeps the second path additive rather than a rewrite</a:t>
            </a:r>
            <a:endParaRPr lang="en-US" sz="1300" dirty="0"/>
          </a:p>
        </p:txBody>
      </p:sp>
      <p:sp>
        <p:nvSpPr>
          <p:cNvPr id="13" name="Shape 11"/>
          <p:cNvSpPr/>
          <p:nvPr/>
        </p:nvSpPr>
        <p:spPr>
          <a:xfrm>
            <a:off x="548640" y="4343400"/>
            <a:ext cx="2103120" cy="1828800"/>
          </a:xfrm>
          <a:prstGeom prst="roundRect">
            <a:avLst>
              <a:gd name="adj" fmla="val 3000"/>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14" name="Shape 12"/>
          <p:cNvSpPr/>
          <p:nvPr/>
        </p:nvSpPr>
        <p:spPr>
          <a:xfrm>
            <a:off x="713232" y="4526280"/>
            <a:ext cx="365760" cy="365760"/>
          </a:xfrm>
          <a:prstGeom prst="ellipse">
            <a:avLst/>
          </a:prstGeom>
          <a:solidFill>
            <a:srgbClr val="065A82"/>
          </a:solidFill>
          <a:ln w="12700">
            <a:solidFill>
              <a:srgbClr val="065A82"/>
            </a:solidFill>
            <a:prstDash val="solid"/>
          </a:ln>
        </p:spPr>
      </p:sp>
      <p:sp>
        <p:nvSpPr>
          <p:cNvPr id="15" name="Text 13"/>
          <p:cNvSpPr txBox="1"/>
          <p:nvPr/>
        </p:nvSpPr>
        <p:spPr>
          <a:xfrm>
            <a:off x="713232" y="4562856"/>
            <a:ext cx="3657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4"/>
          <p:cNvSpPr txBox="1"/>
          <p:nvPr/>
        </p:nvSpPr>
        <p:spPr>
          <a:xfrm>
            <a:off x="713232" y="4983480"/>
            <a:ext cx="1783080" cy="56692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Tenant resolution layer</a:t>
            </a:r>
            <a:endParaRPr lang="en-US" sz="1150" dirty="0"/>
          </a:p>
        </p:txBody>
      </p:sp>
      <p:sp>
        <p:nvSpPr>
          <p:cNvPr id="17" name="Text 15"/>
          <p:cNvSpPr txBox="1"/>
          <p:nvPr/>
        </p:nvSpPr>
        <p:spPr>
          <a:xfrm>
            <a:off x="713232" y="5532120"/>
            <a:ext cx="1783080" cy="56692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All data access routes through it. Branches on isolation_mode; dedicated branch is a stub.</a:t>
            </a:r>
            <a:endParaRPr lang="en-US" sz="950" dirty="0"/>
          </a:p>
        </p:txBody>
      </p:sp>
      <p:sp>
        <p:nvSpPr>
          <p:cNvPr id="18" name="Shape 16"/>
          <p:cNvSpPr/>
          <p:nvPr/>
        </p:nvSpPr>
        <p:spPr>
          <a:xfrm>
            <a:off x="2779776" y="4343400"/>
            <a:ext cx="2103120" cy="1828800"/>
          </a:xfrm>
          <a:prstGeom prst="roundRect">
            <a:avLst>
              <a:gd name="adj" fmla="val 3000"/>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19" name="Shape 17"/>
          <p:cNvSpPr/>
          <p:nvPr/>
        </p:nvSpPr>
        <p:spPr>
          <a:xfrm>
            <a:off x="2944368" y="4526280"/>
            <a:ext cx="365760" cy="365760"/>
          </a:xfrm>
          <a:prstGeom prst="ellipse">
            <a:avLst/>
          </a:prstGeom>
          <a:solidFill>
            <a:srgbClr val="065A82"/>
          </a:solidFill>
          <a:ln w="12700">
            <a:solidFill>
              <a:srgbClr val="065A82"/>
            </a:solidFill>
            <a:prstDash val="solid"/>
          </a:ln>
        </p:spPr>
      </p:sp>
      <p:sp>
        <p:nvSpPr>
          <p:cNvPr id="20" name="Text 18"/>
          <p:cNvSpPr txBox="1"/>
          <p:nvPr/>
        </p:nvSpPr>
        <p:spPr>
          <a:xfrm>
            <a:off x="2944368" y="4562856"/>
            <a:ext cx="3657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txBox="1"/>
          <p:nvPr/>
        </p:nvSpPr>
        <p:spPr>
          <a:xfrm>
            <a:off x="2944368" y="4983480"/>
            <a:ext cx="1783080" cy="56692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RLS enabled now</a:t>
            </a:r>
            <a:endParaRPr lang="en-US" sz="1150" dirty="0"/>
          </a:p>
        </p:txBody>
      </p:sp>
      <p:sp>
        <p:nvSpPr>
          <p:cNvPr id="22" name="Text 20"/>
          <p:cNvSpPr txBox="1"/>
          <p:nvPr/>
        </p:nvSpPr>
        <p:spPr>
          <a:xfrm>
            <a:off x="2944368" y="5532120"/>
            <a:ext cx="1783080" cy="56692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app.tenant_id set on connection checkout. Far harder to retrofit onto live data.</a:t>
            </a:r>
            <a:endParaRPr lang="en-US" sz="950" dirty="0"/>
          </a:p>
        </p:txBody>
      </p:sp>
      <p:sp>
        <p:nvSpPr>
          <p:cNvPr id="23" name="Shape 21"/>
          <p:cNvSpPr/>
          <p:nvPr/>
        </p:nvSpPr>
        <p:spPr>
          <a:xfrm>
            <a:off x="5010912" y="4343400"/>
            <a:ext cx="2103120" cy="1828800"/>
          </a:xfrm>
          <a:prstGeom prst="roundRect">
            <a:avLst>
              <a:gd name="adj" fmla="val 3000"/>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24" name="Shape 22"/>
          <p:cNvSpPr/>
          <p:nvPr/>
        </p:nvSpPr>
        <p:spPr>
          <a:xfrm>
            <a:off x="5175504" y="4526280"/>
            <a:ext cx="365760" cy="365760"/>
          </a:xfrm>
          <a:prstGeom prst="ellipse">
            <a:avLst/>
          </a:prstGeom>
          <a:solidFill>
            <a:srgbClr val="065A82"/>
          </a:solidFill>
          <a:ln w="12700">
            <a:solidFill>
              <a:srgbClr val="065A82"/>
            </a:solidFill>
            <a:prstDash val="solid"/>
          </a:ln>
        </p:spPr>
      </p:sp>
      <p:sp>
        <p:nvSpPr>
          <p:cNvPr id="25" name="Text 23"/>
          <p:cNvSpPr txBox="1"/>
          <p:nvPr/>
        </p:nvSpPr>
        <p:spPr>
          <a:xfrm>
            <a:off x="5175504" y="4562856"/>
            <a:ext cx="3657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txBox="1"/>
          <p:nvPr/>
        </p:nvSpPr>
        <p:spPr>
          <a:xfrm>
            <a:off x="5175504" y="4983480"/>
            <a:ext cx="1783080" cy="56692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isolation_mode field</a:t>
            </a:r>
            <a:endParaRPr lang="en-US" sz="1150" dirty="0"/>
          </a:p>
        </p:txBody>
      </p:sp>
      <p:sp>
        <p:nvSpPr>
          <p:cNvPr id="27" name="Text 25"/>
          <p:cNvSpPr txBox="1"/>
          <p:nvPr/>
        </p:nvSpPr>
        <p:spPr>
          <a:xfrm>
            <a:off x="5175504" y="5532120"/>
            <a:ext cx="1783080" cy="56692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Present from day one, always "shared". The branch exists before it is needed.</a:t>
            </a:r>
            <a:endParaRPr lang="en-US" sz="950" dirty="0"/>
          </a:p>
        </p:txBody>
      </p:sp>
      <p:sp>
        <p:nvSpPr>
          <p:cNvPr id="28" name="Shape 26"/>
          <p:cNvSpPr/>
          <p:nvPr/>
        </p:nvSpPr>
        <p:spPr>
          <a:xfrm>
            <a:off x="7242048" y="4343400"/>
            <a:ext cx="2103120" cy="1828800"/>
          </a:xfrm>
          <a:prstGeom prst="roundRect">
            <a:avLst>
              <a:gd name="adj" fmla="val 3000"/>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29" name="Shape 27"/>
          <p:cNvSpPr/>
          <p:nvPr/>
        </p:nvSpPr>
        <p:spPr>
          <a:xfrm>
            <a:off x="7406640" y="4526280"/>
            <a:ext cx="365760" cy="365760"/>
          </a:xfrm>
          <a:prstGeom prst="ellipse">
            <a:avLst/>
          </a:prstGeom>
          <a:solidFill>
            <a:srgbClr val="065A82"/>
          </a:solidFill>
          <a:ln w="12700">
            <a:solidFill>
              <a:srgbClr val="065A82"/>
            </a:solidFill>
            <a:prstDash val="solid"/>
          </a:ln>
        </p:spPr>
      </p:sp>
      <p:sp>
        <p:nvSpPr>
          <p:cNvPr id="30" name="Text 28"/>
          <p:cNvSpPr txBox="1"/>
          <p:nvPr/>
        </p:nvSpPr>
        <p:spPr>
          <a:xfrm>
            <a:off x="7406640" y="4562856"/>
            <a:ext cx="3657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1" name="Text 29"/>
          <p:cNvSpPr txBox="1"/>
          <p:nvPr/>
        </p:nvSpPr>
        <p:spPr>
          <a:xfrm>
            <a:off x="7406640" y="4983480"/>
            <a:ext cx="1783080" cy="56692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Extraction-ready schema</a:t>
            </a:r>
            <a:endParaRPr lang="en-US" sz="1150" dirty="0"/>
          </a:p>
        </p:txBody>
      </p:sp>
      <p:sp>
        <p:nvSpPr>
          <p:cNvPr id="32" name="Text 30"/>
          <p:cNvSpPr txBox="1"/>
          <p:nvPr/>
        </p:nvSpPr>
        <p:spPr>
          <a:xfrm>
            <a:off x="7406640" y="5532120"/>
            <a:ext cx="1783080" cy="56692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tenant_id direct on every table. Surrogate PK + indexed tenant_id, NOT composite PK.</a:t>
            </a:r>
            <a:endParaRPr lang="en-US" sz="950" dirty="0"/>
          </a:p>
        </p:txBody>
      </p:sp>
      <p:sp>
        <p:nvSpPr>
          <p:cNvPr id="33" name="Shape 31"/>
          <p:cNvSpPr/>
          <p:nvPr/>
        </p:nvSpPr>
        <p:spPr>
          <a:xfrm>
            <a:off x="9473184" y="4343400"/>
            <a:ext cx="2103120" cy="1828800"/>
          </a:xfrm>
          <a:prstGeom prst="roundRect">
            <a:avLst>
              <a:gd name="adj" fmla="val 3000"/>
            </a:avLst>
          </a:prstGeom>
          <a:solidFill>
            <a:srgbClr val="FFFFFF"/>
          </a:solidFill>
          <a:ln w="12700">
            <a:solidFill>
              <a:srgbClr val="DDE5EB"/>
            </a:solidFill>
            <a:prstDash val="solid"/>
          </a:ln>
          <a:effectLst>
            <a:outerShdw sx="100000" sy="100000" kx="0" ky="0" algn="bl" rotWithShape="0" blurRad="63500" dist="12700" dir="5400000">
              <a:srgbClr val="AFC0CC">
                <a:alpha val="25000"/>
              </a:srgbClr>
            </a:outerShdw>
          </a:effectLst>
        </p:spPr>
      </p:sp>
      <p:sp>
        <p:nvSpPr>
          <p:cNvPr id="34" name="Shape 32"/>
          <p:cNvSpPr/>
          <p:nvPr/>
        </p:nvSpPr>
        <p:spPr>
          <a:xfrm>
            <a:off x="9637776" y="4526280"/>
            <a:ext cx="365760" cy="365760"/>
          </a:xfrm>
          <a:prstGeom prst="ellipse">
            <a:avLst/>
          </a:prstGeom>
          <a:solidFill>
            <a:srgbClr val="065A82"/>
          </a:solidFill>
          <a:ln w="12700">
            <a:solidFill>
              <a:srgbClr val="065A82"/>
            </a:solidFill>
            <a:prstDash val="solid"/>
          </a:ln>
        </p:spPr>
      </p:sp>
      <p:sp>
        <p:nvSpPr>
          <p:cNvPr id="35" name="Text 33"/>
          <p:cNvSpPr txBox="1"/>
          <p:nvPr/>
        </p:nvSpPr>
        <p:spPr>
          <a:xfrm>
            <a:off x="9637776" y="4562856"/>
            <a:ext cx="36576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6" name="Text 34"/>
          <p:cNvSpPr txBox="1"/>
          <p:nvPr/>
        </p:nvSpPr>
        <p:spPr>
          <a:xfrm>
            <a:off x="9637776" y="4983480"/>
            <a:ext cx="1783080" cy="56692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Metadata-driven table list</a:t>
            </a:r>
            <a:endParaRPr lang="en-US" sz="1150" dirty="0"/>
          </a:p>
        </p:txBody>
      </p:sp>
      <p:sp>
        <p:nvSpPr>
          <p:cNvPr id="37" name="Text 35"/>
          <p:cNvSpPr txBox="1"/>
          <p:nvPr/>
        </p:nvSpPr>
        <p:spPr>
          <a:xfrm>
            <a:off x="9637776" y="5532120"/>
            <a:ext cx="1783080" cy="56692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Never hardcoded. Powers export, hard delete, and future migration alike.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1064240" cy="658368"/>
          </a:xfrm>
          <a:prstGeom prst="rect">
            <a:avLst/>
          </a:prstGeom>
          <a:noFill/>
          <a:ln/>
        </p:spPr>
        <p:txBody>
          <a:bodyPr wrap="square" lIns="0" tIns="0" rIns="0" bIns="0" rtlCol="0" anchor="ctr"/>
          <a:lstStyle/>
          <a:p>
            <a:pPr indent="0" marL="0">
              <a:buNone/>
            </a:pPr>
            <a:r>
              <a:rPr lang="en-US" sz="3300" b="1" dirty="0">
                <a:solidFill>
                  <a:srgbClr val="21295C"/>
                </a:solidFill>
                <a:latin typeface="Cambria" pitchFamily="34" charset="0"/>
                <a:ea typeface="Cambria" pitchFamily="34" charset="-122"/>
                <a:cs typeface="Cambria" pitchFamily="34" charset="-120"/>
              </a:rPr>
              <a:t>Entitlements &amp; Packs</a:t>
            </a:r>
            <a:endParaRPr lang="en-US" sz="3300" dirty="0"/>
          </a:p>
        </p:txBody>
      </p:sp>
      <p:sp>
        <p:nvSpPr>
          <p:cNvPr id="3" name="Text 1"/>
          <p:cNvSpPr txBox="1"/>
          <p:nvPr/>
        </p:nvSpPr>
        <p:spPr>
          <a:xfrm>
            <a:off x="548640" y="1024128"/>
            <a:ext cx="11064240" cy="347472"/>
          </a:xfrm>
          <a:prstGeom prst="rect">
            <a:avLst/>
          </a:prstGeom>
          <a:noFill/>
          <a:ln/>
        </p:spPr>
        <p:txBody>
          <a:bodyPr wrap="square" lIns="0" tIns="0" rIns="0" bIns="0" rtlCol="0" anchor="ctr"/>
          <a:lstStyle/>
          <a:p>
            <a:pPr indent="0" marL="0">
              <a:buNone/>
            </a:pPr>
            <a:r>
              <a:rPr lang="en-US" sz="1350" dirty="0">
                <a:solidFill>
                  <a:srgbClr val="5A6B7A"/>
                </a:solidFill>
                <a:latin typeface="Calibri" pitchFamily="34" charset="0"/>
                <a:ea typeface="Calibri" pitchFamily="34" charset="-122"/>
                <a:cs typeface="Calibri" pitchFamily="34" charset="-120"/>
              </a:rPr>
              <a:t>How module access is resolved, cached, invalidated — and where it can silently fail</a:t>
            </a:r>
            <a:endParaRPr lang="en-US" sz="1350" dirty="0"/>
          </a:p>
        </p:txBody>
      </p:sp>
      <p:sp>
        <p:nvSpPr>
          <p:cNvPr id="4" name="Shape 2"/>
          <p:cNvSpPr/>
          <p:nvPr/>
        </p:nvSpPr>
        <p:spPr>
          <a:xfrm>
            <a:off x="548640" y="1554480"/>
            <a:ext cx="11064240" cy="1170432"/>
          </a:xfrm>
          <a:prstGeom prst="roundRect">
            <a:avLst>
              <a:gd name="adj" fmla="val 4688"/>
            </a:avLst>
          </a:prstGeom>
          <a:solidFill>
            <a:srgbClr val="F4F7F9"/>
          </a:solidFill>
          <a:ln w="12700">
            <a:solidFill>
              <a:srgbClr val="DDE5EB"/>
            </a:solidFill>
            <a:prstDash val="solid"/>
          </a:ln>
        </p:spPr>
      </p:sp>
      <p:sp>
        <p:nvSpPr>
          <p:cNvPr id="5" name="Text 3"/>
          <p:cNvSpPr txBox="1"/>
          <p:nvPr/>
        </p:nvSpPr>
        <p:spPr>
          <a:xfrm>
            <a:off x="822960" y="1691640"/>
            <a:ext cx="1463040" cy="274320"/>
          </a:xfrm>
          <a:prstGeom prst="rect">
            <a:avLst/>
          </a:prstGeom>
          <a:noFill/>
          <a:ln/>
        </p:spPr>
        <p:txBody>
          <a:bodyPr wrap="square" lIns="0" tIns="0" rIns="0" bIns="0" rtlCol="0" anchor="ctr"/>
          <a:lstStyle/>
          <a:p>
            <a:pPr indent="0" marL="0">
              <a:buNone/>
            </a:pPr>
            <a:r>
              <a:rPr lang="en-US" sz="1100" b="1" spc="100" kern="0" dirty="0">
                <a:solidFill>
                  <a:srgbClr val="1C7293"/>
                </a:solidFill>
                <a:latin typeface="Calibri" pitchFamily="34" charset="0"/>
                <a:ea typeface="Calibri" pitchFamily="34" charset="-122"/>
                <a:cs typeface="Calibri" pitchFamily="34" charset="-120"/>
              </a:rPr>
              <a:t>Model</a:t>
            </a:r>
            <a:endParaRPr lang="en-US" sz="1100" dirty="0"/>
          </a:p>
        </p:txBody>
      </p:sp>
      <p:sp>
        <p:nvSpPr>
          <p:cNvPr id="6" name="Text 4"/>
          <p:cNvSpPr txBox="1"/>
          <p:nvPr/>
        </p:nvSpPr>
        <p:spPr>
          <a:xfrm>
            <a:off x="822960" y="1993392"/>
            <a:ext cx="10515600" cy="320040"/>
          </a:xfrm>
          <a:prstGeom prst="rect">
            <a:avLst/>
          </a:prstGeom>
          <a:noFill/>
          <a:ln/>
        </p:spPr>
        <p:txBody>
          <a:bodyPr wrap="square" lIns="0" tIns="0" rIns="0" bIns="0" rtlCol="0" anchor="ctr"/>
          <a:lstStyle/>
          <a:p>
            <a:pPr indent="0" marL="0">
              <a:buNone/>
            </a:pPr>
            <a:r>
              <a:rPr lang="en-US" sz="1400" b="1" dirty="0">
                <a:solidFill>
                  <a:srgbClr val="21295C"/>
                </a:solidFill>
                <a:latin typeface="Consolas" pitchFamily="34" charset="0"/>
                <a:ea typeface="Consolas" pitchFamily="34" charset="-122"/>
                <a:cs typeface="Consolas" pitchFamily="34" charset="-120"/>
              </a:rPr>
              <a:t>Module  →  Features  ·  Pack = commercial bundle of modules/features  ·  Subscription links Tenant → Pack</a:t>
            </a:r>
            <a:endParaRPr lang="en-US" sz="1400" dirty="0"/>
          </a:p>
        </p:txBody>
      </p:sp>
      <p:sp>
        <p:nvSpPr>
          <p:cNvPr id="7" name="Text 5"/>
          <p:cNvSpPr txBox="1"/>
          <p:nvPr/>
        </p:nvSpPr>
        <p:spPr>
          <a:xfrm>
            <a:off x="822960" y="2331720"/>
            <a:ext cx="10515600" cy="29260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Entitlement = the set of modules active for a tenant, derived from its current subscription. Never stored in the token.</a:t>
            </a:r>
            <a:endParaRPr lang="en-US" sz="1150" dirty="0"/>
          </a:p>
        </p:txBody>
      </p:sp>
      <p:sp>
        <p:nvSpPr>
          <p:cNvPr id="8" name="Shape 6"/>
          <p:cNvSpPr/>
          <p:nvPr/>
        </p:nvSpPr>
        <p:spPr>
          <a:xfrm>
            <a:off x="548640" y="2926080"/>
            <a:ext cx="11064240" cy="731520"/>
          </a:xfrm>
          <a:prstGeom prst="roundRect">
            <a:avLst>
              <a:gd name="adj" fmla="val 7500"/>
            </a:avLst>
          </a:prstGeom>
          <a:solidFill>
            <a:srgbClr val="FFFFFF"/>
          </a:solidFill>
          <a:ln w="12700">
            <a:solidFill>
              <a:srgbClr val="DDE5EB"/>
            </a:solidFill>
            <a:prstDash val="solid"/>
          </a:ln>
        </p:spPr>
      </p:sp>
      <p:sp>
        <p:nvSpPr>
          <p:cNvPr id="9" name="Shape 7"/>
          <p:cNvSpPr/>
          <p:nvPr/>
        </p:nvSpPr>
        <p:spPr>
          <a:xfrm>
            <a:off x="548640" y="2926080"/>
            <a:ext cx="64008" cy="731520"/>
          </a:xfrm>
          <a:prstGeom prst="rect">
            <a:avLst/>
          </a:prstGeom>
          <a:solidFill>
            <a:srgbClr val="065A82"/>
          </a:solidFill>
          <a:ln w="12700">
            <a:solidFill>
              <a:srgbClr val="065A82"/>
            </a:solidFill>
            <a:prstDash val="solid"/>
          </a:ln>
        </p:spPr>
      </p:sp>
      <p:sp>
        <p:nvSpPr>
          <p:cNvPr id="10" name="Text 8"/>
          <p:cNvSpPr txBox="1"/>
          <p:nvPr/>
        </p:nvSpPr>
        <p:spPr>
          <a:xfrm>
            <a:off x="868680" y="2999232"/>
            <a:ext cx="2377440" cy="585216"/>
          </a:xfrm>
          <a:prstGeom prst="rect">
            <a:avLst/>
          </a:prstGeom>
          <a:noFill/>
          <a:ln/>
        </p:spPr>
        <p:txBody>
          <a:bodyPr wrap="square" lIns="0" tIns="0" rIns="0" bIns="0" rtlCol="0" anchor="ctr"/>
          <a:lstStyle/>
          <a:p>
            <a:pPr indent="0" marL="0">
              <a:buNone/>
            </a:pPr>
            <a:r>
              <a:rPr lang="en-US" sz="1300" b="1" dirty="0">
                <a:solidFill>
                  <a:srgbClr val="065A82"/>
                </a:solidFill>
                <a:latin typeface="Cambria" pitchFamily="34" charset="0"/>
                <a:ea typeface="Cambria" pitchFamily="34" charset="-122"/>
                <a:cs typeface="Cambria" pitchFamily="34" charset="-120"/>
              </a:rPr>
              <a:t>Resolution</a:t>
            </a:r>
            <a:endParaRPr lang="en-US" sz="1300" dirty="0"/>
          </a:p>
        </p:txBody>
      </p:sp>
      <p:sp>
        <p:nvSpPr>
          <p:cNvPr id="11" name="Text 9"/>
          <p:cNvSpPr txBox="1"/>
          <p:nvPr/>
        </p:nvSpPr>
        <p:spPr>
          <a:xfrm>
            <a:off x="3383280" y="2999232"/>
            <a:ext cx="8001000" cy="585216"/>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Gateway reads Redis once per request. Cache miss falls back to Subscription Service. Result forwarded downstream as trusted request context.</a:t>
            </a:r>
            <a:endParaRPr lang="en-US" sz="1150" dirty="0"/>
          </a:p>
        </p:txBody>
      </p:sp>
      <p:sp>
        <p:nvSpPr>
          <p:cNvPr id="12" name="Shape 10"/>
          <p:cNvSpPr/>
          <p:nvPr/>
        </p:nvSpPr>
        <p:spPr>
          <a:xfrm>
            <a:off x="548640" y="3776472"/>
            <a:ext cx="11064240" cy="731520"/>
          </a:xfrm>
          <a:prstGeom prst="roundRect">
            <a:avLst>
              <a:gd name="adj" fmla="val 7500"/>
            </a:avLst>
          </a:prstGeom>
          <a:solidFill>
            <a:srgbClr val="FFFFFF"/>
          </a:solidFill>
          <a:ln w="12700">
            <a:solidFill>
              <a:srgbClr val="DDE5EB"/>
            </a:solidFill>
            <a:prstDash val="solid"/>
          </a:ln>
        </p:spPr>
      </p:sp>
      <p:sp>
        <p:nvSpPr>
          <p:cNvPr id="13" name="Shape 11"/>
          <p:cNvSpPr/>
          <p:nvPr/>
        </p:nvSpPr>
        <p:spPr>
          <a:xfrm>
            <a:off x="548640" y="3776472"/>
            <a:ext cx="64008" cy="731520"/>
          </a:xfrm>
          <a:prstGeom prst="rect">
            <a:avLst/>
          </a:prstGeom>
          <a:solidFill>
            <a:srgbClr val="1C7293"/>
          </a:solidFill>
          <a:ln w="12700">
            <a:solidFill>
              <a:srgbClr val="1C7293"/>
            </a:solidFill>
            <a:prstDash val="solid"/>
          </a:ln>
        </p:spPr>
      </p:sp>
      <p:sp>
        <p:nvSpPr>
          <p:cNvPr id="14" name="Text 12"/>
          <p:cNvSpPr txBox="1"/>
          <p:nvPr/>
        </p:nvSpPr>
        <p:spPr>
          <a:xfrm>
            <a:off x="868680" y="3849624"/>
            <a:ext cx="2377440" cy="585216"/>
          </a:xfrm>
          <a:prstGeom prst="rect">
            <a:avLst/>
          </a:prstGeom>
          <a:noFill/>
          <a:ln/>
        </p:spPr>
        <p:txBody>
          <a:bodyPr wrap="square" lIns="0" tIns="0" rIns="0" bIns="0" rtlCol="0" anchor="ctr"/>
          <a:lstStyle/>
          <a:p>
            <a:pPr indent="0" marL="0">
              <a:buNone/>
            </a:pPr>
            <a:r>
              <a:rPr lang="en-US" sz="1300" b="1" dirty="0">
                <a:solidFill>
                  <a:srgbClr val="1C7293"/>
                </a:solidFill>
                <a:latin typeface="Cambria" pitchFamily="34" charset="0"/>
                <a:ea typeface="Cambria" pitchFamily="34" charset="-122"/>
                <a:cs typeface="Cambria" pitchFamily="34" charset="-120"/>
              </a:rPr>
              <a:t>Invalidation</a:t>
            </a:r>
            <a:endParaRPr lang="en-US" sz="1300" dirty="0"/>
          </a:p>
        </p:txBody>
      </p:sp>
      <p:sp>
        <p:nvSpPr>
          <p:cNvPr id="15" name="Text 13"/>
          <p:cNvSpPr txBox="1"/>
          <p:nvPr/>
        </p:nvSpPr>
        <p:spPr>
          <a:xfrm>
            <a:off x="3383280" y="3849624"/>
            <a:ext cx="8001000" cy="585216"/>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Subscription change publishes an event that actively busts the tenant key. TTL (30–60s) is the safety net, not the mechanism.</a:t>
            </a:r>
            <a:endParaRPr lang="en-US" sz="1150" dirty="0"/>
          </a:p>
        </p:txBody>
      </p:sp>
      <p:sp>
        <p:nvSpPr>
          <p:cNvPr id="16" name="Shape 14"/>
          <p:cNvSpPr/>
          <p:nvPr/>
        </p:nvSpPr>
        <p:spPr>
          <a:xfrm>
            <a:off x="548640" y="4626864"/>
            <a:ext cx="11064240" cy="731520"/>
          </a:xfrm>
          <a:prstGeom prst="roundRect">
            <a:avLst>
              <a:gd name="adj" fmla="val 7500"/>
            </a:avLst>
          </a:prstGeom>
          <a:solidFill>
            <a:srgbClr val="FFFFFF"/>
          </a:solidFill>
          <a:ln w="12700">
            <a:solidFill>
              <a:srgbClr val="DDE5EB"/>
            </a:solidFill>
            <a:prstDash val="solid"/>
          </a:ln>
        </p:spPr>
      </p:sp>
      <p:sp>
        <p:nvSpPr>
          <p:cNvPr id="17" name="Shape 15"/>
          <p:cNvSpPr/>
          <p:nvPr/>
        </p:nvSpPr>
        <p:spPr>
          <a:xfrm>
            <a:off x="548640" y="4626864"/>
            <a:ext cx="64008" cy="731520"/>
          </a:xfrm>
          <a:prstGeom prst="rect">
            <a:avLst/>
          </a:prstGeom>
          <a:solidFill>
            <a:srgbClr val="21295C"/>
          </a:solidFill>
          <a:ln w="12700">
            <a:solidFill>
              <a:srgbClr val="21295C"/>
            </a:solidFill>
            <a:prstDash val="solid"/>
          </a:ln>
        </p:spPr>
      </p:sp>
      <p:sp>
        <p:nvSpPr>
          <p:cNvPr id="18" name="Text 16"/>
          <p:cNvSpPr txBox="1"/>
          <p:nvPr/>
        </p:nvSpPr>
        <p:spPr>
          <a:xfrm>
            <a:off x="868680" y="4700016"/>
            <a:ext cx="2377440" cy="585216"/>
          </a:xfrm>
          <a:prstGeom prst="rect">
            <a:avLst/>
          </a:prstGeom>
          <a:noFill/>
          <a:ln/>
        </p:spPr>
        <p:txBody>
          <a:bodyPr wrap="square" lIns="0" tIns="0" rIns="0" bIns="0" rtlCol="0" anchor="ctr"/>
          <a:lstStyle/>
          <a:p>
            <a:pPr indent="0" marL="0">
              <a:buNone/>
            </a:pPr>
            <a:r>
              <a:rPr lang="en-US" sz="1300" b="1" dirty="0">
                <a:solidFill>
                  <a:srgbClr val="21295C"/>
                </a:solidFill>
                <a:latin typeface="Cambria" pitchFamily="34" charset="0"/>
                <a:ea typeface="Cambria" pitchFamily="34" charset="-122"/>
                <a:cs typeface="Cambria" pitchFamily="34" charset="-120"/>
              </a:rPr>
              <a:t>Defense in depth</a:t>
            </a:r>
            <a:endParaRPr lang="en-US" sz="1300" dirty="0"/>
          </a:p>
        </p:txBody>
      </p:sp>
      <p:sp>
        <p:nvSpPr>
          <p:cNvPr id="19" name="Text 17"/>
          <p:cNvSpPr txBox="1"/>
          <p:nvPr/>
        </p:nvSpPr>
        <p:spPr>
          <a:xfrm>
            <a:off x="3383280" y="4700016"/>
            <a:ext cx="8001000" cy="585216"/>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NestJS guard re-checks the module against forwarded context. Absent context = DENY, never assume allowed.</a:t>
            </a:r>
            <a:endParaRPr lang="en-US" sz="1150" dirty="0"/>
          </a:p>
        </p:txBody>
      </p:sp>
      <p:sp>
        <p:nvSpPr>
          <p:cNvPr id="20" name="Shape 18"/>
          <p:cNvSpPr/>
          <p:nvPr/>
        </p:nvSpPr>
        <p:spPr>
          <a:xfrm>
            <a:off x="548640" y="5477256"/>
            <a:ext cx="11064240" cy="731520"/>
          </a:xfrm>
          <a:prstGeom prst="roundRect">
            <a:avLst>
              <a:gd name="adj" fmla="val 7500"/>
            </a:avLst>
          </a:prstGeom>
          <a:solidFill>
            <a:srgbClr val="FBE9E7"/>
          </a:solidFill>
          <a:ln w="12700">
            <a:solidFill>
              <a:srgbClr val="F0C4BC"/>
            </a:solidFill>
            <a:prstDash val="solid"/>
          </a:ln>
        </p:spPr>
      </p:sp>
      <p:sp>
        <p:nvSpPr>
          <p:cNvPr id="21" name="Shape 19"/>
          <p:cNvSpPr/>
          <p:nvPr/>
        </p:nvSpPr>
        <p:spPr>
          <a:xfrm>
            <a:off x="548640" y="5477256"/>
            <a:ext cx="64008" cy="731520"/>
          </a:xfrm>
          <a:prstGeom prst="rect">
            <a:avLst/>
          </a:prstGeom>
          <a:solidFill>
            <a:srgbClr val="A8321E"/>
          </a:solidFill>
          <a:ln w="12700">
            <a:solidFill>
              <a:srgbClr val="A8321E"/>
            </a:solidFill>
            <a:prstDash val="solid"/>
          </a:ln>
        </p:spPr>
      </p:sp>
      <p:sp>
        <p:nvSpPr>
          <p:cNvPr id="22" name="Text 20"/>
          <p:cNvSpPr txBox="1"/>
          <p:nvPr/>
        </p:nvSpPr>
        <p:spPr>
          <a:xfrm>
            <a:off x="868680" y="5550408"/>
            <a:ext cx="2377440" cy="585216"/>
          </a:xfrm>
          <a:prstGeom prst="rect">
            <a:avLst/>
          </a:prstGeom>
          <a:noFill/>
          <a:ln/>
        </p:spPr>
        <p:txBody>
          <a:bodyPr wrap="square" lIns="0" tIns="0" rIns="0" bIns="0" rtlCol="0" anchor="ctr"/>
          <a:lstStyle/>
          <a:p>
            <a:pPr indent="0" marL="0">
              <a:buNone/>
            </a:pPr>
            <a:r>
              <a:rPr lang="en-US" sz="1300" b="1" dirty="0">
                <a:solidFill>
                  <a:srgbClr val="A8321E"/>
                </a:solidFill>
                <a:latin typeface="Cambria" pitchFamily="34" charset="0"/>
                <a:ea typeface="Cambria" pitchFamily="34" charset="-122"/>
                <a:cs typeface="Cambria" pitchFamily="34" charset="-120"/>
              </a:rPr>
              <a:t>Background jobs</a:t>
            </a:r>
            <a:endParaRPr lang="en-US" sz="1300" dirty="0"/>
          </a:p>
        </p:txBody>
      </p:sp>
      <p:sp>
        <p:nvSpPr>
          <p:cNvPr id="23" name="Text 21"/>
          <p:cNvSpPr txBox="1"/>
          <p:nvPr/>
        </p:nvSpPr>
        <p:spPr>
          <a:xfrm>
            <a:off x="3383280" y="5550408"/>
            <a:ext cx="8001000" cy="585216"/>
          </a:xfrm>
          <a:prstGeom prst="rect">
            <a:avLst/>
          </a:prstGeom>
          <a:noFill/>
          <a:ln/>
        </p:spPr>
        <p:txBody>
          <a:bodyPr wrap="square" lIns="0" tIns="0" rIns="0" bIns="0" rtlCol="0" anchor="ctr"/>
          <a:lstStyle/>
          <a:p>
            <a:pPr indent="0" marL="0">
              <a:buNone/>
            </a:pPr>
            <a:r>
              <a:rPr lang="en-US" sz="1150" dirty="0">
                <a:solidFill>
                  <a:srgbClr val="8A3A28"/>
                </a:solidFill>
                <a:latin typeface="Calibri" pitchFamily="34" charset="0"/>
                <a:ea typeface="Calibri" pitchFamily="34" charset="-122"/>
                <a:cs typeface="Calibri" pitchFamily="34" charset="-120"/>
              </a:rPr>
              <a:t>Schedulers bypass the gateway entirely. The scheduler MUST check entitlement before dispatch — otherwise a locked module keeps running payroll and reports.</a:t>
            </a:r>
            <a:endParaRPr lang="en-US" sz="1150" dirty="0"/>
          </a:p>
        </p:txBody>
      </p:sp>
      <p:sp>
        <p:nvSpPr>
          <p:cNvPr id="24" name="Shape 22"/>
          <p:cNvSpPr/>
          <p:nvPr/>
        </p:nvSpPr>
        <p:spPr>
          <a:xfrm>
            <a:off x="548640" y="6355080"/>
            <a:ext cx="11064240" cy="0"/>
          </a:xfrm>
          <a:prstGeom prst="roundRect">
            <a:avLst/>
          </a:prstGeom>
          <a:solidFill>
            <a:srgbClr val="FFFFFF"/>
          </a:solidFill>
          <a:ln w="12700">
            <a:solidFill>
              <a:srgbClr val="FFFFFF"/>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1064240" cy="658368"/>
          </a:xfrm>
          <a:prstGeom prst="rect">
            <a:avLst/>
          </a:prstGeom>
          <a:noFill/>
          <a:ln/>
        </p:spPr>
        <p:txBody>
          <a:bodyPr wrap="square" lIns="0" tIns="0" rIns="0" bIns="0" rtlCol="0" anchor="ctr"/>
          <a:lstStyle/>
          <a:p>
            <a:pPr indent="0" marL="0">
              <a:buNone/>
            </a:pPr>
            <a:r>
              <a:rPr lang="en-US" sz="3300" b="1" dirty="0">
                <a:solidFill>
                  <a:srgbClr val="21295C"/>
                </a:solidFill>
                <a:latin typeface="Cambria" pitchFamily="34" charset="0"/>
                <a:ea typeface="Cambria" pitchFamily="34" charset="-122"/>
                <a:cs typeface="Cambria" pitchFamily="34" charset="-120"/>
              </a:rPr>
              <a:t>Lifecycle: Downgrade &amp; Deletion</a:t>
            </a:r>
            <a:endParaRPr lang="en-US" sz="3300" dirty="0"/>
          </a:p>
        </p:txBody>
      </p:sp>
      <p:sp>
        <p:nvSpPr>
          <p:cNvPr id="3" name="Text 1"/>
          <p:cNvSpPr txBox="1"/>
          <p:nvPr/>
        </p:nvSpPr>
        <p:spPr>
          <a:xfrm>
            <a:off x="548640" y="1024128"/>
            <a:ext cx="11064240" cy="347472"/>
          </a:xfrm>
          <a:prstGeom prst="rect">
            <a:avLst/>
          </a:prstGeom>
          <a:noFill/>
          <a:ln/>
        </p:spPr>
        <p:txBody>
          <a:bodyPr wrap="square" lIns="0" tIns="0" rIns="0" bIns="0" rtlCol="0" anchor="ctr"/>
          <a:lstStyle/>
          <a:p>
            <a:pPr indent="0" marL="0">
              <a:buNone/>
            </a:pPr>
            <a:r>
              <a:rPr lang="en-US" sz="1350" dirty="0">
                <a:solidFill>
                  <a:srgbClr val="5A6B7A"/>
                </a:solidFill>
                <a:latin typeface="Calibri" pitchFamily="34" charset="0"/>
                <a:ea typeface="Calibri" pitchFamily="34" charset="-122"/>
                <a:cs typeface="Calibri" pitchFamily="34" charset="-120"/>
              </a:rPr>
              <a:t>Data is never destroyed by a downgrade, and deletion is always staged</a:t>
            </a:r>
            <a:endParaRPr lang="en-US" sz="1350" dirty="0"/>
          </a:p>
        </p:txBody>
      </p:sp>
      <p:sp>
        <p:nvSpPr>
          <p:cNvPr id="4" name="Text 2"/>
          <p:cNvSpPr txBox="1"/>
          <p:nvPr/>
        </p:nvSpPr>
        <p:spPr>
          <a:xfrm>
            <a:off x="548640" y="1554480"/>
            <a:ext cx="5394960" cy="32004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Module downgrade — soft-lock</a:t>
            </a:r>
            <a:endParaRPr lang="en-US" sz="1500" dirty="0"/>
          </a:p>
        </p:txBody>
      </p:sp>
      <p:sp>
        <p:nvSpPr>
          <p:cNvPr id="5" name="Shape 3"/>
          <p:cNvSpPr/>
          <p:nvPr/>
        </p:nvSpPr>
        <p:spPr>
          <a:xfrm>
            <a:off x="658368" y="2057400"/>
            <a:ext cx="128016" cy="128016"/>
          </a:xfrm>
          <a:prstGeom prst="ellipse">
            <a:avLst/>
          </a:prstGeom>
          <a:solidFill>
            <a:srgbClr val="2E7D5B"/>
          </a:solidFill>
          <a:ln w="12700">
            <a:solidFill>
              <a:srgbClr val="2E7D5B"/>
            </a:solidFill>
            <a:prstDash val="solid"/>
          </a:ln>
        </p:spPr>
      </p:sp>
      <p:sp>
        <p:nvSpPr>
          <p:cNvPr id="6" name="Text 4"/>
          <p:cNvSpPr txBox="1"/>
          <p:nvPr/>
        </p:nvSpPr>
        <p:spPr>
          <a:xfrm>
            <a:off x="932688" y="1965960"/>
            <a:ext cx="4937760" cy="384048"/>
          </a:xfrm>
          <a:prstGeom prst="rect">
            <a:avLst/>
          </a:prstGeom>
          <a:noFill/>
          <a:ln/>
        </p:spPr>
        <p:txBody>
          <a:bodyPr wrap="square" lIns="0" tIns="0" rIns="0" bIns="0" rtlCol="0" anchor="ctr"/>
          <a:lstStyle/>
          <a:p>
            <a:pPr indent="0" marL="0">
              <a:buNone/>
            </a:pPr>
            <a:r>
              <a:rPr lang="en-US" sz="1200" dirty="0">
                <a:solidFill>
                  <a:srgbClr val="5A6B7A"/>
                </a:solidFill>
                <a:latin typeface="Calibri" pitchFamily="34" charset="0"/>
                <a:ea typeface="Calibri" pitchFamily="34" charset="-122"/>
                <a:cs typeface="Calibri" pitchFamily="34" charset="-120"/>
              </a:rPr>
              <a:t>Rows untouched — no per-record flags</a:t>
            </a:r>
            <a:endParaRPr lang="en-US" sz="1200" dirty="0"/>
          </a:p>
        </p:txBody>
      </p:sp>
      <p:sp>
        <p:nvSpPr>
          <p:cNvPr id="7" name="Shape 5"/>
          <p:cNvSpPr/>
          <p:nvPr/>
        </p:nvSpPr>
        <p:spPr>
          <a:xfrm>
            <a:off x="658368" y="2532888"/>
            <a:ext cx="128016" cy="128016"/>
          </a:xfrm>
          <a:prstGeom prst="ellipse">
            <a:avLst/>
          </a:prstGeom>
          <a:solidFill>
            <a:srgbClr val="2E7D5B"/>
          </a:solidFill>
          <a:ln w="12700">
            <a:solidFill>
              <a:srgbClr val="2E7D5B"/>
            </a:solidFill>
            <a:prstDash val="solid"/>
          </a:ln>
        </p:spPr>
      </p:sp>
      <p:sp>
        <p:nvSpPr>
          <p:cNvPr id="8" name="Text 6"/>
          <p:cNvSpPr txBox="1"/>
          <p:nvPr/>
        </p:nvSpPr>
        <p:spPr>
          <a:xfrm>
            <a:off x="932688" y="2441448"/>
            <a:ext cx="4937760" cy="384048"/>
          </a:xfrm>
          <a:prstGeom prst="rect">
            <a:avLst/>
          </a:prstGeom>
          <a:noFill/>
          <a:ln/>
        </p:spPr>
        <p:txBody>
          <a:bodyPr wrap="square" lIns="0" tIns="0" rIns="0" bIns="0" rtlCol="0" anchor="ctr"/>
          <a:lstStyle/>
          <a:p>
            <a:pPr indent="0" marL="0">
              <a:buNone/>
            </a:pPr>
            <a:r>
              <a:rPr lang="en-US" sz="1200" dirty="0">
                <a:solidFill>
                  <a:srgbClr val="5A6B7A"/>
                </a:solidFill>
                <a:latin typeface="Calibri" pitchFamily="34" charset="0"/>
                <a:ea typeface="Calibri" pitchFamily="34" charset="-122"/>
                <a:cs typeface="Calibri" pitchFamily="34" charset="-120"/>
              </a:rPr>
              <a:t>Gate lives entirely in the entitlement layer</a:t>
            </a:r>
            <a:endParaRPr lang="en-US" sz="1200" dirty="0"/>
          </a:p>
        </p:txBody>
      </p:sp>
      <p:sp>
        <p:nvSpPr>
          <p:cNvPr id="9" name="Shape 7"/>
          <p:cNvSpPr/>
          <p:nvPr/>
        </p:nvSpPr>
        <p:spPr>
          <a:xfrm>
            <a:off x="658368" y="3008376"/>
            <a:ext cx="128016" cy="128016"/>
          </a:xfrm>
          <a:prstGeom prst="ellipse">
            <a:avLst/>
          </a:prstGeom>
          <a:solidFill>
            <a:srgbClr val="2E7D5B"/>
          </a:solidFill>
          <a:ln w="12700">
            <a:solidFill>
              <a:srgbClr val="2E7D5B"/>
            </a:solidFill>
            <a:prstDash val="solid"/>
          </a:ln>
        </p:spPr>
      </p:sp>
      <p:sp>
        <p:nvSpPr>
          <p:cNvPr id="10" name="Text 8"/>
          <p:cNvSpPr txBox="1"/>
          <p:nvPr/>
        </p:nvSpPr>
        <p:spPr>
          <a:xfrm>
            <a:off x="932688" y="2916936"/>
            <a:ext cx="4937760" cy="384048"/>
          </a:xfrm>
          <a:prstGeom prst="rect">
            <a:avLst/>
          </a:prstGeom>
          <a:noFill/>
          <a:ln/>
        </p:spPr>
        <p:txBody>
          <a:bodyPr wrap="square" lIns="0" tIns="0" rIns="0" bIns="0" rtlCol="0" anchor="ctr"/>
          <a:lstStyle/>
          <a:p>
            <a:pPr indent="0" marL="0">
              <a:buNone/>
            </a:pPr>
            <a:r>
              <a:rPr lang="en-US" sz="1200" dirty="0">
                <a:solidFill>
                  <a:srgbClr val="5A6B7A"/>
                </a:solidFill>
                <a:latin typeface="Calibri" pitchFamily="34" charset="0"/>
                <a:ea typeface="Calibri" pitchFamily="34" charset="-122"/>
                <a:cs typeface="Calibri" pitchFamily="34" charset="-120"/>
              </a:rPr>
              <a:t>Background jobs for the module stop</a:t>
            </a:r>
            <a:endParaRPr lang="en-US" sz="1200" dirty="0"/>
          </a:p>
        </p:txBody>
      </p:sp>
      <p:sp>
        <p:nvSpPr>
          <p:cNvPr id="11" name="Shape 9"/>
          <p:cNvSpPr/>
          <p:nvPr/>
        </p:nvSpPr>
        <p:spPr>
          <a:xfrm>
            <a:off x="658368" y="3483864"/>
            <a:ext cx="128016" cy="128016"/>
          </a:xfrm>
          <a:prstGeom prst="ellipse">
            <a:avLst/>
          </a:prstGeom>
          <a:solidFill>
            <a:srgbClr val="2E7D5B"/>
          </a:solidFill>
          <a:ln w="12700">
            <a:solidFill>
              <a:srgbClr val="2E7D5B"/>
            </a:solidFill>
            <a:prstDash val="solid"/>
          </a:ln>
        </p:spPr>
      </p:sp>
      <p:sp>
        <p:nvSpPr>
          <p:cNvPr id="12" name="Text 10"/>
          <p:cNvSpPr txBox="1"/>
          <p:nvPr/>
        </p:nvSpPr>
        <p:spPr>
          <a:xfrm>
            <a:off x="932688" y="3392424"/>
            <a:ext cx="4937760" cy="384048"/>
          </a:xfrm>
          <a:prstGeom prst="rect">
            <a:avLst/>
          </a:prstGeom>
          <a:noFill/>
          <a:ln/>
        </p:spPr>
        <p:txBody>
          <a:bodyPr wrap="square" lIns="0" tIns="0" rIns="0" bIns="0" rtlCol="0" anchor="ctr"/>
          <a:lstStyle/>
          <a:p>
            <a:pPr indent="0" marL="0">
              <a:buNone/>
            </a:pPr>
            <a:r>
              <a:rPr lang="en-US" sz="1200" dirty="0">
                <a:solidFill>
                  <a:srgbClr val="5A6B7A"/>
                </a:solidFill>
                <a:latin typeface="Calibri" pitchFamily="34" charset="0"/>
                <a:ea typeface="Calibri" pitchFamily="34" charset="-122"/>
                <a:cs typeface="Calibri" pitchFamily="34" charset="-120"/>
              </a:rPr>
              <a:t>Re-upgrade is instant, data intact</a:t>
            </a:r>
            <a:endParaRPr lang="en-US" sz="1200" dirty="0"/>
          </a:p>
        </p:txBody>
      </p:sp>
      <p:sp>
        <p:nvSpPr>
          <p:cNvPr id="13" name="Shape 11"/>
          <p:cNvSpPr/>
          <p:nvPr/>
        </p:nvSpPr>
        <p:spPr>
          <a:xfrm>
            <a:off x="548640" y="3977640"/>
            <a:ext cx="5394960" cy="914400"/>
          </a:xfrm>
          <a:prstGeom prst="roundRect">
            <a:avLst>
              <a:gd name="adj" fmla="val 6000"/>
            </a:avLst>
          </a:prstGeom>
          <a:solidFill>
            <a:srgbClr val="E8F1E9"/>
          </a:solidFill>
          <a:ln w="12700">
            <a:solidFill>
              <a:srgbClr val="C3DDCB"/>
            </a:solidFill>
            <a:prstDash val="solid"/>
          </a:ln>
        </p:spPr>
      </p:sp>
      <p:sp>
        <p:nvSpPr>
          <p:cNvPr id="14" name="Text 12"/>
          <p:cNvSpPr txBox="1"/>
          <p:nvPr/>
        </p:nvSpPr>
        <p:spPr>
          <a:xfrm>
            <a:off x="777240" y="3977640"/>
            <a:ext cx="4937760" cy="914400"/>
          </a:xfrm>
          <a:prstGeom prst="rect">
            <a:avLst/>
          </a:prstGeom>
          <a:noFill/>
          <a:ln/>
        </p:spPr>
        <p:txBody>
          <a:bodyPr wrap="square" lIns="0" tIns="0" rIns="0" bIns="0" rtlCol="0" anchor="ctr"/>
          <a:lstStyle/>
          <a:p>
            <a:pPr indent="0" marL="0">
              <a:buNone/>
            </a:pPr>
            <a:r>
              <a:rPr lang="en-US" sz="1100" dirty="0">
                <a:solidFill>
                  <a:srgbClr val="2E7D5B"/>
                </a:solidFill>
                <a:latin typeface="Calibri" pitchFamily="34" charset="0"/>
                <a:ea typeface="Calibri" pitchFamily="34" charset="-122"/>
                <a:cs typeface="Calibri" pitchFamily="34" charset="-120"/>
              </a:rPr>
              <a:t>Commercial rationale: a client who downgrades seasonally and returns finds everything as they left it. Purging makes every downgrade permanent loss.</a:t>
            </a:r>
            <a:endParaRPr lang="en-US" sz="1100" dirty="0"/>
          </a:p>
        </p:txBody>
      </p:sp>
      <p:sp>
        <p:nvSpPr>
          <p:cNvPr id="15" name="Text 13"/>
          <p:cNvSpPr txBox="1"/>
          <p:nvPr/>
        </p:nvSpPr>
        <p:spPr>
          <a:xfrm>
            <a:off x="6217920" y="1554480"/>
            <a:ext cx="5394960" cy="32004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Tenant deletion — staged</a:t>
            </a:r>
            <a:endParaRPr lang="en-US" sz="1500" dirty="0"/>
          </a:p>
        </p:txBody>
      </p:sp>
      <p:sp>
        <p:nvSpPr>
          <p:cNvPr id="16" name="Shape 14"/>
          <p:cNvSpPr/>
          <p:nvPr/>
        </p:nvSpPr>
        <p:spPr>
          <a:xfrm>
            <a:off x="6217920" y="1965960"/>
            <a:ext cx="5394960" cy="896112"/>
          </a:xfrm>
          <a:prstGeom prst="roundRect">
            <a:avLst>
              <a:gd name="adj" fmla="val 6122"/>
            </a:avLst>
          </a:prstGeom>
          <a:solidFill>
            <a:srgbClr val="FFFFFF"/>
          </a:solidFill>
          <a:ln w="12700">
            <a:solidFill>
              <a:srgbClr val="DDE5EB"/>
            </a:solidFill>
            <a:prstDash val="solid"/>
          </a:ln>
        </p:spPr>
      </p:sp>
      <p:sp>
        <p:nvSpPr>
          <p:cNvPr id="17" name="Shape 15"/>
          <p:cNvSpPr/>
          <p:nvPr/>
        </p:nvSpPr>
        <p:spPr>
          <a:xfrm>
            <a:off x="6217920" y="1965960"/>
            <a:ext cx="64008" cy="896112"/>
          </a:xfrm>
          <a:prstGeom prst="rect">
            <a:avLst/>
          </a:prstGeom>
          <a:solidFill>
            <a:srgbClr val="D98E04"/>
          </a:solidFill>
          <a:ln w="12700">
            <a:solidFill>
              <a:srgbClr val="D98E04"/>
            </a:solidFill>
            <a:prstDash val="solid"/>
          </a:ln>
        </p:spPr>
      </p:sp>
      <p:sp>
        <p:nvSpPr>
          <p:cNvPr id="18" name="Text 16"/>
          <p:cNvSpPr txBox="1"/>
          <p:nvPr/>
        </p:nvSpPr>
        <p:spPr>
          <a:xfrm>
            <a:off x="6492240" y="2057400"/>
            <a:ext cx="1737360" cy="274320"/>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Suspended</a:t>
            </a:r>
            <a:endParaRPr lang="en-US" sz="1250" dirty="0"/>
          </a:p>
        </p:txBody>
      </p:sp>
      <p:sp>
        <p:nvSpPr>
          <p:cNvPr id="19" name="Text 17"/>
          <p:cNvSpPr txBox="1"/>
          <p:nvPr/>
        </p:nvSpPr>
        <p:spPr>
          <a:xfrm>
            <a:off x="6492240" y="2350008"/>
            <a:ext cx="1737360" cy="256032"/>
          </a:xfrm>
          <a:prstGeom prst="rect">
            <a:avLst/>
          </a:prstGeom>
          <a:noFill/>
          <a:ln/>
        </p:spPr>
        <p:txBody>
          <a:bodyPr wrap="square" lIns="0" tIns="0" rIns="0" bIns="0" rtlCol="0" anchor="ctr"/>
          <a:lstStyle/>
          <a:p>
            <a:pPr indent="0" marL="0">
              <a:buNone/>
            </a:pPr>
            <a:r>
              <a:rPr lang="en-US" sz="950" i="1" dirty="0">
                <a:solidFill>
                  <a:srgbClr val="1C7293"/>
                </a:solidFill>
                <a:latin typeface="Calibri" pitchFamily="34" charset="0"/>
                <a:ea typeface="Calibri" pitchFamily="34" charset="-122"/>
                <a:cs typeface="Calibri" pitchFamily="34" charset="-120"/>
              </a:rPr>
              <a:t>Non-payment, 7–14d</a:t>
            </a:r>
            <a:endParaRPr lang="en-US" sz="950" dirty="0"/>
          </a:p>
        </p:txBody>
      </p:sp>
      <p:sp>
        <p:nvSpPr>
          <p:cNvPr id="20" name="Text 18"/>
          <p:cNvSpPr txBox="1"/>
          <p:nvPr/>
        </p:nvSpPr>
        <p:spPr>
          <a:xfrm>
            <a:off x="8321040" y="2057400"/>
            <a:ext cx="2286000" cy="685800"/>
          </a:xfrm>
          <a:prstGeom prst="rect">
            <a:avLst/>
          </a:prstGeom>
          <a:noFill/>
          <a:ln/>
        </p:spPr>
        <p:txBody>
          <a:bodyPr wrap="square" lIns="0" tIns="0" rIns="0" bIns="0" rtlCol="0" anchor="ctr"/>
          <a:lstStyle/>
          <a:p>
            <a:pPr indent="0" marL="0">
              <a:buNone/>
            </a:pPr>
            <a:r>
              <a:rPr lang="en-US" sz="1050" dirty="0">
                <a:solidFill>
                  <a:srgbClr val="5A6B7A"/>
                </a:solidFill>
                <a:latin typeface="Calibri" pitchFamily="34" charset="0"/>
                <a:ea typeface="Calibri" pitchFamily="34" charset="-122"/>
                <a:cs typeface="Calibri" pitchFamily="34" charset="-120"/>
              </a:rPr>
              <a:t>Access blocked, data intact</a:t>
            </a:r>
            <a:endParaRPr lang="en-US" sz="1050" dirty="0"/>
          </a:p>
        </p:txBody>
      </p:sp>
      <p:sp>
        <p:nvSpPr>
          <p:cNvPr id="21" name="Text 19"/>
          <p:cNvSpPr txBox="1"/>
          <p:nvPr/>
        </p:nvSpPr>
        <p:spPr>
          <a:xfrm>
            <a:off x="10698480" y="2057400"/>
            <a:ext cx="822960" cy="685800"/>
          </a:xfrm>
          <a:prstGeom prst="rect">
            <a:avLst/>
          </a:prstGeom>
          <a:noFill/>
          <a:ln/>
        </p:spPr>
        <p:txBody>
          <a:bodyPr wrap="square" lIns="0" tIns="0" rIns="0" bIns="0" rtlCol="0" anchor="ctr"/>
          <a:lstStyle/>
          <a:p>
            <a:pPr algn="r" indent="0" marL="0">
              <a:buNone/>
            </a:pPr>
            <a:r>
              <a:rPr lang="en-US" sz="900" b="1" dirty="0">
                <a:solidFill>
                  <a:srgbClr val="D98E04"/>
                </a:solidFill>
                <a:latin typeface="Calibri" pitchFamily="34" charset="0"/>
                <a:ea typeface="Calibri" pitchFamily="34" charset="-122"/>
                <a:cs typeface="Calibri" pitchFamily="34" charset="-120"/>
              </a:rPr>
              <a:t>Reversible</a:t>
            </a:r>
            <a:endParaRPr lang="en-US" sz="900" dirty="0"/>
          </a:p>
        </p:txBody>
      </p:sp>
      <p:sp>
        <p:nvSpPr>
          <p:cNvPr id="22" name="Shape 20"/>
          <p:cNvSpPr/>
          <p:nvPr/>
        </p:nvSpPr>
        <p:spPr>
          <a:xfrm>
            <a:off x="6217920" y="2990088"/>
            <a:ext cx="5394960" cy="896112"/>
          </a:xfrm>
          <a:prstGeom prst="roundRect">
            <a:avLst>
              <a:gd name="adj" fmla="val 6122"/>
            </a:avLst>
          </a:prstGeom>
          <a:solidFill>
            <a:srgbClr val="FFFFFF"/>
          </a:solidFill>
          <a:ln w="12700">
            <a:solidFill>
              <a:srgbClr val="DDE5EB"/>
            </a:solidFill>
            <a:prstDash val="solid"/>
          </a:ln>
        </p:spPr>
      </p:sp>
      <p:sp>
        <p:nvSpPr>
          <p:cNvPr id="23" name="Shape 21"/>
          <p:cNvSpPr/>
          <p:nvPr/>
        </p:nvSpPr>
        <p:spPr>
          <a:xfrm>
            <a:off x="6217920" y="2990088"/>
            <a:ext cx="64008" cy="896112"/>
          </a:xfrm>
          <a:prstGeom prst="rect">
            <a:avLst/>
          </a:prstGeom>
          <a:solidFill>
            <a:srgbClr val="1C7293"/>
          </a:solidFill>
          <a:ln w="12700">
            <a:solidFill>
              <a:srgbClr val="1C7293"/>
            </a:solidFill>
            <a:prstDash val="solid"/>
          </a:ln>
        </p:spPr>
      </p:sp>
      <p:sp>
        <p:nvSpPr>
          <p:cNvPr id="24" name="Text 22"/>
          <p:cNvSpPr txBox="1"/>
          <p:nvPr/>
        </p:nvSpPr>
        <p:spPr>
          <a:xfrm>
            <a:off x="6492240" y="3081528"/>
            <a:ext cx="1737360" cy="274320"/>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Soft-deleted</a:t>
            </a:r>
            <a:endParaRPr lang="en-US" sz="1250" dirty="0"/>
          </a:p>
        </p:txBody>
      </p:sp>
      <p:sp>
        <p:nvSpPr>
          <p:cNvPr id="25" name="Text 23"/>
          <p:cNvSpPr txBox="1"/>
          <p:nvPr/>
        </p:nvSpPr>
        <p:spPr>
          <a:xfrm>
            <a:off x="6492240" y="3374136"/>
            <a:ext cx="1737360" cy="256032"/>
          </a:xfrm>
          <a:prstGeom prst="rect">
            <a:avLst/>
          </a:prstGeom>
          <a:noFill/>
          <a:ln/>
        </p:spPr>
        <p:txBody>
          <a:bodyPr wrap="square" lIns="0" tIns="0" rIns="0" bIns="0" rtlCol="0" anchor="ctr"/>
          <a:lstStyle/>
          <a:p>
            <a:pPr indent="0" marL="0">
              <a:buNone/>
            </a:pPr>
            <a:r>
              <a:rPr lang="en-US" sz="950" i="1" dirty="0">
                <a:solidFill>
                  <a:srgbClr val="1C7293"/>
                </a:solidFill>
                <a:latin typeface="Calibri" pitchFamily="34" charset="0"/>
                <a:ea typeface="Calibri" pitchFamily="34" charset="-122"/>
                <a:cs typeface="Calibri" pitchFamily="34" charset="-120"/>
              </a:rPr>
              <a:t>Cancellation, 30–90d grace</a:t>
            </a:r>
            <a:endParaRPr lang="en-US" sz="950" dirty="0"/>
          </a:p>
        </p:txBody>
      </p:sp>
      <p:sp>
        <p:nvSpPr>
          <p:cNvPr id="26" name="Text 24"/>
          <p:cNvSpPr txBox="1"/>
          <p:nvPr/>
        </p:nvSpPr>
        <p:spPr>
          <a:xfrm>
            <a:off x="8321040" y="3081528"/>
            <a:ext cx="2286000" cy="685800"/>
          </a:xfrm>
          <a:prstGeom prst="rect">
            <a:avLst/>
          </a:prstGeom>
          <a:noFill/>
          <a:ln/>
        </p:spPr>
        <p:txBody>
          <a:bodyPr wrap="square" lIns="0" tIns="0" rIns="0" bIns="0" rtlCol="0" anchor="ctr"/>
          <a:lstStyle/>
          <a:p>
            <a:pPr indent="0" marL="0">
              <a:buNone/>
            </a:pPr>
            <a:r>
              <a:rPr lang="en-US" sz="1050" dirty="0">
                <a:solidFill>
                  <a:srgbClr val="5A6B7A"/>
                </a:solidFill>
                <a:latin typeface="Calibri" pitchFamily="34" charset="0"/>
                <a:ea typeface="Calibri" pitchFamily="34" charset="-122"/>
                <a:cs typeface="Calibri" pitchFamily="34" charset="-120"/>
              </a:rPr>
              <a:t>Excluded from queries, export auto-generated</a:t>
            </a:r>
            <a:endParaRPr lang="en-US" sz="1050" dirty="0"/>
          </a:p>
        </p:txBody>
      </p:sp>
      <p:sp>
        <p:nvSpPr>
          <p:cNvPr id="27" name="Text 25"/>
          <p:cNvSpPr txBox="1"/>
          <p:nvPr/>
        </p:nvSpPr>
        <p:spPr>
          <a:xfrm>
            <a:off x="10698480" y="3081528"/>
            <a:ext cx="822960" cy="685800"/>
          </a:xfrm>
          <a:prstGeom prst="rect">
            <a:avLst/>
          </a:prstGeom>
          <a:noFill/>
          <a:ln/>
        </p:spPr>
        <p:txBody>
          <a:bodyPr wrap="square" lIns="0" tIns="0" rIns="0" bIns="0" rtlCol="0" anchor="ctr"/>
          <a:lstStyle/>
          <a:p>
            <a:pPr algn="r" indent="0" marL="0">
              <a:buNone/>
            </a:pPr>
            <a:r>
              <a:rPr lang="en-US" sz="900" b="1" dirty="0">
                <a:solidFill>
                  <a:srgbClr val="1C7293"/>
                </a:solidFill>
                <a:latin typeface="Calibri" pitchFamily="34" charset="0"/>
                <a:ea typeface="Calibri" pitchFamily="34" charset="-122"/>
                <a:cs typeface="Calibri" pitchFamily="34" charset="-120"/>
              </a:rPr>
              <a:t>Reversible</a:t>
            </a:r>
            <a:endParaRPr lang="en-US" sz="900" dirty="0"/>
          </a:p>
        </p:txBody>
      </p:sp>
      <p:sp>
        <p:nvSpPr>
          <p:cNvPr id="28" name="Shape 26"/>
          <p:cNvSpPr/>
          <p:nvPr/>
        </p:nvSpPr>
        <p:spPr>
          <a:xfrm>
            <a:off x="6217920" y="4014216"/>
            <a:ext cx="5394960" cy="896112"/>
          </a:xfrm>
          <a:prstGeom prst="roundRect">
            <a:avLst>
              <a:gd name="adj" fmla="val 6122"/>
            </a:avLst>
          </a:prstGeom>
          <a:solidFill>
            <a:srgbClr val="FFFFFF"/>
          </a:solidFill>
          <a:ln w="12700">
            <a:solidFill>
              <a:srgbClr val="DDE5EB"/>
            </a:solidFill>
            <a:prstDash val="solid"/>
          </a:ln>
        </p:spPr>
      </p:sp>
      <p:sp>
        <p:nvSpPr>
          <p:cNvPr id="29" name="Shape 27"/>
          <p:cNvSpPr/>
          <p:nvPr/>
        </p:nvSpPr>
        <p:spPr>
          <a:xfrm>
            <a:off x="6217920" y="4014216"/>
            <a:ext cx="64008" cy="896112"/>
          </a:xfrm>
          <a:prstGeom prst="rect">
            <a:avLst/>
          </a:prstGeom>
          <a:solidFill>
            <a:srgbClr val="A8321E"/>
          </a:solidFill>
          <a:ln w="12700">
            <a:solidFill>
              <a:srgbClr val="A8321E"/>
            </a:solidFill>
            <a:prstDash val="solid"/>
          </a:ln>
        </p:spPr>
      </p:sp>
      <p:sp>
        <p:nvSpPr>
          <p:cNvPr id="30" name="Text 28"/>
          <p:cNvSpPr txBox="1"/>
          <p:nvPr/>
        </p:nvSpPr>
        <p:spPr>
          <a:xfrm>
            <a:off x="6492240" y="4105656"/>
            <a:ext cx="1737360" cy="274320"/>
          </a:xfrm>
          <a:prstGeom prst="rect">
            <a:avLst/>
          </a:prstGeom>
          <a:noFill/>
          <a:ln/>
        </p:spPr>
        <p:txBody>
          <a:bodyPr wrap="square" lIns="0" tIns="0" rIns="0" bIns="0" rtlCol="0" anchor="ctr"/>
          <a:lstStyle/>
          <a:p>
            <a:pPr indent="0" marL="0">
              <a:buNone/>
            </a:pPr>
            <a:r>
              <a:rPr lang="en-US" sz="1250" b="1" dirty="0">
                <a:solidFill>
                  <a:srgbClr val="21295C"/>
                </a:solidFill>
                <a:latin typeface="Cambria" pitchFamily="34" charset="0"/>
                <a:ea typeface="Cambria" pitchFamily="34" charset="-122"/>
                <a:cs typeface="Cambria" pitchFamily="34" charset="-120"/>
              </a:rPr>
              <a:t>Hard delete</a:t>
            </a:r>
            <a:endParaRPr lang="en-US" sz="1250" dirty="0"/>
          </a:p>
        </p:txBody>
      </p:sp>
      <p:sp>
        <p:nvSpPr>
          <p:cNvPr id="31" name="Text 29"/>
          <p:cNvSpPr txBox="1"/>
          <p:nvPr/>
        </p:nvSpPr>
        <p:spPr>
          <a:xfrm>
            <a:off x="6492240" y="4398264"/>
            <a:ext cx="1737360" cy="256032"/>
          </a:xfrm>
          <a:prstGeom prst="rect">
            <a:avLst/>
          </a:prstGeom>
          <a:noFill/>
          <a:ln/>
        </p:spPr>
        <p:txBody>
          <a:bodyPr wrap="square" lIns="0" tIns="0" rIns="0" bIns="0" rtlCol="0" anchor="ctr"/>
          <a:lstStyle/>
          <a:p>
            <a:pPr indent="0" marL="0">
              <a:buNone/>
            </a:pPr>
            <a:r>
              <a:rPr lang="en-US" sz="950" i="1" dirty="0">
                <a:solidFill>
                  <a:srgbClr val="1C7293"/>
                </a:solidFill>
                <a:latin typeface="Calibri" pitchFamily="34" charset="0"/>
                <a:ea typeface="Calibri" pitchFamily="34" charset="-122"/>
                <a:cs typeface="Calibri" pitchFamily="34" charset="-120"/>
              </a:rPr>
              <a:t>Grace expired / on request</a:t>
            </a:r>
            <a:endParaRPr lang="en-US" sz="950" dirty="0"/>
          </a:p>
        </p:txBody>
      </p:sp>
      <p:sp>
        <p:nvSpPr>
          <p:cNvPr id="32" name="Text 30"/>
          <p:cNvSpPr txBox="1"/>
          <p:nvPr/>
        </p:nvSpPr>
        <p:spPr>
          <a:xfrm>
            <a:off x="8321040" y="4105656"/>
            <a:ext cx="2286000" cy="685800"/>
          </a:xfrm>
          <a:prstGeom prst="rect">
            <a:avLst/>
          </a:prstGeom>
          <a:noFill/>
          <a:ln/>
        </p:spPr>
        <p:txBody>
          <a:bodyPr wrap="square" lIns="0" tIns="0" rIns="0" bIns="0" rtlCol="0" anchor="ctr"/>
          <a:lstStyle/>
          <a:p>
            <a:pPr indent="0" marL="0">
              <a:buNone/>
            </a:pPr>
            <a:r>
              <a:rPr lang="en-US" sz="1050" dirty="0">
                <a:solidFill>
                  <a:srgbClr val="5A6B7A"/>
                </a:solidFill>
                <a:latin typeface="Calibri" pitchFamily="34" charset="0"/>
                <a:ea typeface="Calibri" pitchFamily="34" charset="-122"/>
                <a:cs typeface="Calibri" pitchFamily="34" charset="-120"/>
              </a:rPr>
              <a:t>Rows removed, Keycloak group deleted</a:t>
            </a:r>
            <a:endParaRPr lang="en-US" sz="1050" dirty="0"/>
          </a:p>
        </p:txBody>
      </p:sp>
      <p:sp>
        <p:nvSpPr>
          <p:cNvPr id="33" name="Text 31"/>
          <p:cNvSpPr txBox="1"/>
          <p:nvPr/>
        </p:nvSpPr>
        <p:spPr>
          <a:xfrm>
            <a:off x="10698480" y="4105656"/>
            <a:ext cx="822960" cy="685800"/>
          </a:xfrm>
          <a:prstGeom prst="rect">
            <a:avLst/>
          </a:prstGeom>
          <a:noFill/>
          <a:ln/>
        </p:spPr>
        <p:txBody>
          <a:bodyPr wrap="square" lIns="0" tIns="0" rIns="0" bIns="0" rtlCol="0" anchor="ctr"/>
          <a:lstStyle/>
          <a:p>
            <a:pPr algn="r" indent="0" marL="0">
              <a:buNone/>
            </a:pPr>
            <a:r>
              <a:rPr lang="en-US" sz="900" b="1" dirty="0">
                <a:solidFill>
                  <a:srgbClr val="A8321E"/>
                </a:solidFill>
                <a:latin typeface="Calibri" pitchFamily="34" charset="0"/>
                <a:ea typeface="Calibri" pitchFamily="34" charset="-122"/>
                <a:cs typeface="Calibri" pitchFamily="34" charset="-120"/>
              </a:rPr>
              <a:t>Permanent</a:t>
            </a:r>
            <a:endParaRPr lang="en-US" sz="900" dirty="0"/>
          </a:p>
        </p:txBody>
      </p:sp>
      <p:sp>
        <p:nvSpPr>
          <p:cNvPr id="34" name="Shape 32"/>
          <p:cNvSpPr/>
          <p:nvPr/>
        </p:nvSpPr>
        <p:spPr>
          <a:xfrm>
            <a:off x="548640" y="5120640"/>
            <a:ext cx="11064240" cy="1051560"/>
          </a:xfrm>
          <a:prstGeom prst="roundRect">
            <a:avLst>
              <a:gd name="adj" fmla="val 5217"/>
            </a:avLst>
          </a:prstGeom>
          <a:solidFill>
            <a:srgbClr val="FDF4E3"/>
          </a:solidFill>
          <a:ln w="12700">
            <a:solidFill>
              <a:srgbClr val="F0DCB8"/>
            </a:solidFill>
            <a:prstDash val="solid"/>
          </a:ln>
        </p:spPr>
      </p:sp>
      <p:sp>
        <p:nvSpPr>
          <p:cNvPr id="35" name="Text 33"/>
          <p:cNvSpPr txBox="1"/>
          <p:nvPr/>
        </p:nvSpPr>
        <p:spPr>
          <a:xfrm>
            <a:off x="822960" y="5230368"/>
            <a:ext cx="10515600" cy="274320"/>
          </a:xfrm>
          <a:prstGeom prst="rect">
            <a:avLst/>
          </a:prstGeom>
          <a:noFill/>
          <a:ln/>
        </p:spPr>
        <p:txBody>
          <a:bodyPr wrap="square" lIns="0" tIns="0" rIns="0" bIns="0" rtlCol="0" anchor="ctr"/>
          <a:lstStyle/>
          <a:p>
            <a:pPr indent="0" marL="0">
              <a:buNone/>
            </a:pPr>
            <a:r>
              <a:rPr lang="en-US" sz="1200" b="1" dirty="0">
                <a:solidFill>
                  <a:srgbClr val="8A5A00"/>
                </a:solidFill>
                <a:latin typeface="Cambria" pitchFamily="34" charset="0"/>
                <a:ea typeface="Cambria" pitchFamily="34" charset="-122"/>
                <a:cs typeface="Cambria" pitchFamily="34" charset="-120"/>
              </a:rPr>
              <a:t>Hard delete implementation &amp; open legal question</a:t>
            </a:r>
            <a:endParaRPr lang="en-US" sz="1200" dirty="0"/>
          </a:p>
        </p:txBody>
      </p:sp>
      <p:sp>
        <p:nvSpPr>
          <p:cNvPr id="36" name="Text 34"/>
          <p:cNvSpPr txBox="1"/>
          <p:nvPr/>
        </p:nvSpPr>
        <p:spPr>
          <a:xfrm>
            <a:off x="822960" y="5504688"/>
            <a:ext cx="10515600" cy="594360"/>
          </a:xfrm>
          <a:prstGeom prst="rect">
            <a:avLst/>
          </a:prstGeom>
          <a:noFill/>
          <a:ln/>
        </p:spPr>
        <p:txBody>
          <a:bodyPr wrap="square" lIns="0" tIns="0" rIns="0" bIns="0" rtlCol="0" anchor="ctr"/>
          <a:lstStyle/>
          <a:p>
            <a:pPr indent="0" marL="0">
              <a:buNone/>
            </a:pPr>
            <a:r>
              <a:rPr lang="en-US" sz="1050" dirty="0">
                <a:solidFill>
                  <a:srgbClr val="8A5A00"/>
                </a:solidFill>
                <a:latin typeface="Calibri" pitchFamily="34" charset="0"/>
                <a:ea typeface="Calibri" pitchFamily="34" charset="-122"/>
                <a:cs typeface="Calibri" pitchFamily="34" charset="-120"/>
              </a:rPr>
              <a:t>DELETE across tenant-scoped tables in FK dependency order, table list generated from schema metadata (never hardcoded — a static list goes stale silently), in a transaction, verifying zero remaining rows before commit.  ·  OPEN: statutory retention for financial records (TN + EU) may conflict with GDPR erasure — needs legal review before this is built.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1064240" cy="658368"/>
          </a:xfrm>
          <a:prstGeom prst="rect">
            <a:avLst/>
          </a:prstGeom>
          <a:noFill/>
          <a:ln/>
        </p:spPr>
        <p:txBody>
          <a:bodyPr wrap="square" lIns="0" tIns="0" rIns="0" bIns="0" rtlCol="0" anchor="ctr"/>
          <a:lstStyle/>
          <a:p>
            <a:pPr indent="0" marL="0">
              <a:buNone/>
            </a:pPr>
            <a:r>
              <a:rPr lang="en-US" sz="3300" b="1" dirty="0">
                <a:solidFill>
                  <a:srgbClr val="21295C"/>
                </a:solidFill>
                <a:latin typeface="Cambria" pitchFamily="34" charset="0"/>
                <a:ea typeface="Cambria" pitchFamily="34" charset="-122"/>
                <a:cs typeface="Cambria" pitchFamily="34" charset="-120"/>
              </a:rPr>
              <a:t>First Module: HR</a:t>
            </a:r>
            <a:endParaRPr lang="en-US" sz="3300" dirty="0"/>
          </a:p>
        </p:txBody>
      </p:sp>
      <p:sp>
        <p:nvSpPr>
          <p:cNvPr id="3" name="Text 1"/>
          <p:cNvSpPr txBox="1"/>
          <p:nvPr/>
        </p:nvSpPr>
        <p:spPr>
          <a:xfrm>
            <a:off x="548640" y="1024128"/>
            <a:ext cx="11064240" cy="347472"/>
          </a:xfrm>
          <a:prstGeom prst="rect">
            <a:avLst/>
          </a:prstGeom>
          <a:noFill/>
          <a:ln/>
        </p:spPr>
        <p:txBody>
          <a:bodyPr wrap="square" lIns="0" tIns="0" rIns="0" bIns="0" rtlCol="0" anchor="ctr"/>
          <a:lstStyle/>
          <a:p>
            <a:pPr indent="0" marL="0">
              <a:buNone/>
            </a:pPr>
            <a:r>
              <a:rPr lang="en-US" sz="1350" dirty="0">
                <a:solidFill>
                  <a:srgbClr val="5A6B7A"/>
                </a:solidFill>
                <a:latin typeface="Calibri" pitchFamily="34" charset="0"/>
                <a:ea typeface="Calibri" pitchFamily="34" charset="-122"/>
                <a:cs typeface="Calibri" pitchFamily="34" charset="-120"/>
              </a:rPr>
              <a:t>HR ships first, a second module follows immediately — and that shapes how we build</a:t>
            </a:r>
            <a:endParaRPr lang="en-US" sz="1350" dirty="0"/>
          </a:p>
        </p:txBody>
      </p:sp>
      <p:sp>
        <p:nvSpPr>
          <p:cNvPr id="4" name="Shape 2"/>
          <p:cNvSpPr/>
          <p:nvPr/>
        </p:nvSpPr>
        <p:spPr>
          <a:xfrm>
            <a:off x="548640" y="1572768"/>
            <a:ext cx="11064240" cy="960120"/>
          </a:xfrm>
          <a:prstGeom prst="roundRect">
            <a:avLst>
              <a:gd name="adj" fmla="val 5714"/>
            </a:avLst>
          </a:prstGeom>
          <a:solidFill>
            <a:srgbClr val="FDF4E3"/>
          </a:solidFill>
          <a:ln w="12700">
            <a:solidFill>
              <a:srgbClr val="F0DCB8"/>
            </a:solidFill>
            <a:prstDash val="solid"/>
          </a:ln>
        </p:spPr>
      </p:sp>
      <p:sp>
        <p:nvSpPr>
          <p:cNvPr id="5" name="Text 3"/>
          <p:cNvSpPr txBox="1"/>
          <p:nvPr/>
        </p:nvSpPr>
        <p:spPr>
          <a:xfrm>
            <a:off x="822960" y="1673352"/>
            <a:ext cx="10515600" cy="274320"/>
          </a:xfrm>
          <a:prstGeom prst="rect">
            <a:avLst/>
          </a:prstGeom>
          <a:noFill/>
          <a:ln/>
        </p:spPr>
        <p:txBody>
          <a:bodyPr wrap="square" lIns="0" tIns="0" rIns="0" bIns="0" rtlCol="0" anchor="ctr"/>
          <a:lstStyle/>
          <a:p>
            <a:pPr indent="0" marL="0">
              <a:buNone/>
            </a:pPr>
            <a:r>
              <a:rPr lang="en-US" sz="1250" b="1" dirty="0">
                <a:solidFill>
                  <a:srgbClr val="8A5A00"/>
                </a:solidFill>
                <a:latin typeface="Cambria" pitchFamily="34" charset="0"/>
                <a:ea typeface="Cambria" pitchFamily="34" charset="-122"/>
                <a:cs typeface="Cambria" pitchFamily="34" charset="-120"/>
              </a:rPr>
              <a:t>Why the second module matters now</a:t>
            </a:r>
            <a:endParaRPr lang="en-US" sz="1250" dirty="0"/>
          </a:p>
        </p:txBody>
      </p:sp>
      <p:sp>
        <p:nvSpPr>
          <p:cNvPr id="6" name="Text 4"/>
          <p:cNvSpPr txBox="1"/>
          <p:nvPr/>
        </p:nvSpPr>
        <p:spPr>
          <a:xfrm>
            <a:off x="822960" y="1947672"/>
            <a:ext cx="10515600" cy="502920"/>
          </a:xfrm>
          <a:prstGeom prst="rect">
            <a:avLst/>
          </a:prstGeom>
          <a:noFill/>
          <a:ln/>
        </p:spPr>
        <p:txBody>
          <a:bodyPr wrap="square" lIns="0" tIns="0" rIns="0" bIns="0" rtlCol="0" anchor="ctr"/>
          <a:lstStyle/>
          <a:p>
            <a:pPr indent="0" marL="0">
              <a:buNone/>
            </a:pPr>
            <a:r>
              <a:rPr lang="en-US" sz="1150" dirty="0">
                <a:solidFill>
                  <a:srgbClr val="8A5A00"/>
                </a:solidFill>
                <a:latin typeface="Calibri" pitchFamily="34" charset="0"/>
                <a:ea typeface="Calibri" pitchFamily="34" charset="-122"/>
                <a:cs typeface="Calibri" pitchFamily="34" charset="-120"/>
              </a:rPr>
              <a:t>With one module, packs and entitlements are theoretical — every client gets the same thing. The second module is what proves the plugin contract, the entitlement checks and the pack model actually hold. We build for it from day one rather than retrofitting.</a:t>
            </a:r>
            <a:endParaRPr lang="en-US" sz="1150" dirty="0"/>
          </a:p>
        </p:txBody>
      </p:sp>
      <p:sp>
        <p:nvSpPr>
          <p:cNvPr id="7" name="Text 5"/>
          <p:cNvSpPr txBox="1"/>
          <p:nvPr/>
        </p:nvSpPr>
        <p:spPr>
          <a:xfrm>
            <a:off x="548640" y="2743200"/>
            <a:ext cx="5394960" cy="32004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Module plugin contract — define before writing HR</a:t>
            </a:r>
            <a:endParaRPr lang="en-US" sz="1400" dirty="0"/>
          </a:p>
        </p:txBody>
      </p:sp>
      <p:sp>
        <p:nvSpPr>
          <p:cNvPr id="8" name="Shape 6"/>
          <p:cNvSpPr/>
          <p:nvPr/>
        </p:nvSpPr>
        <p:spPr>
          <a:xfrm>
            <a:off x="658368" y="3246120"/>
            <a:ext cx="128016" cy="128016"/>
          </a:xfrm>
          <a:prstGeom prst="ellipse">
            <a:avLst/>
          </a:prstGeom>
          <a:solidFill>
            <a:srgbClr val="065A82"/>
          </a:solidFill>
          <a:ln w="12700">
            <a:solidFill>
              <a:srgbClr val="065A82"/>
            </a:solidFill>
            <a:prstDash val="solid"/>
          </a:ln>
        </p:spPr>
      </p:sp>
      <p:sp>
        <p:nvSpPr>
          <p:cNvPr id="9" name="Text 7"/>
          <p:cNvSpPr txBox="1"/>
          <p:nvPr/>
        </p:nvSpPr>
        <p:spPr>
          <a:xfrm>
            <a:off x="932688" y="3154680"/>
            <a:ext cx="4937760" cy="38404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How a module registers its features &amp; permissions</a:t>
            </a:r>
            <a:endParaRPr lang="en-US" sz="1150" dirty="0"/>
          </a:p>
        </p:txBody>
      </p:sp>
      <p:sp>
        <p:nvSpPr>
          <p:cNvPr id="10" name="Shape 8"/>
          <p:cNvSpPr/>
          <p:nvPr/>
        </p:nvSpPr>
        <p:spPr>
          <a:xfrm>
            <a:off x="658368" y="3703320"/>
            <a:ext cx="128016" cy="128016"/>
          </a:xfrm>
          <a:prstGeom prst="ellipse">
            <a:avLst/>
          </a:prstGeom>
          <a:solidFill>
            <a:srgbClr val="065A82"/>
          </a:solidFill>
          <a:ln w="12700">
            <a:solidFill>
              <a:srgbClr val="065A82"/>
            </a:solidFill>
            <a:prstDash val="solid"/>
          </a:ln>
        </p:spPr>
      </p:sp>
      <p:sp>
        <p:nvSpPr>
          <p:cNvPr id="11" name="Text 9"/>
          <p:cNvSpPr txBox="1"/>
          <p:nvPr/>
        </p:nvSpPr>
        <p:spPr>
          <a:xfrm>
            <a:off x="932688" y="3611880"/>
            <a:ext cx="4937760" cy="38404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How its routes declare required entitlement</a:t>
            </a:r>
            <a:endParaRPr lang="en-US" sz="1150" dirty="0"/>
          </a:p>
        </p:txBody>
      </p:sp>
      <p:sp>
        <p:nvSpPr>
          <p:cNvPr id="12" name="Shape 10"/>
          <p:cNvSpPr/>
          <p:nvPr/>
        </p:nvSpPr>
        <p:spPr>
          <a:xfrm>
            <a:off x="658368" y="4160520"/>
            <a:ext cx="128016" cy="128016"/>
          </a:xfrm>
          <a:prstGeom prst="ellipse">
            <a:avLst/>
          </a:prstGeom>
          <a:solidFill>
            <a:srgbClr val="065A82"/>
          </a:solidFill>
          <a:ln w="12700">
            <a:solidFill>
              <a:srgbClr val="065A82"/>
            </a:solidFill>
            <a:prstDash val="solid"/>
          </a:ln>
        </p:spPr>
      </p:sp>
      <p:sp>
        <p:nvSpPr>
          <p:cNvPr id="13" name="Text 11"/>
          <p:cNvSpPr txBox="1"/>
          <p:nvPr/>
        </p:nvSpPr>
        <p:spPr>
          <a:xfrm>
            <a:off x="932688" y="4069080"/>
            <a:ext cx="4937760" cy="38404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How it exposes data to the per-tenant export</a:t>
            </a:r>
            <a:endParaRPr lang="en-US" sz="1150" dirty="0"/>
          </a:p>
        </p:txBody>
      </p:sp>
      <p:sp>
        <p:nvSpPr>
          <p:cNvPr id="14" name="Shape 12"/>
          <p:cNvSpPr/>
          <p:nvPr/>
        </p:nvSpPr>
        <p:spPr>
          <a:xfrm>
            <a:off x="658368" y="4617720"/>
            <a:ext cx="128016" cy="128016"/>
          </a:xfrm>
          <a:prstGeom prst="ellipse">
            <a:avLst/>
          </a:prstGeom>
          <a:solidFill>
            <a:srgbClr val="065A82"/>
          </a:solidFill>
          <a:ln w="12700">
            <a:solidFill>
              <a:srgbClr val="065A82"/>
            </a:solidFill>
            <a:prstDash val="solid"/>
          </a:ln>
        </p:spPr>
      </p:sp>
      <p:sp>
        <p:nvSpPr>
          <p:cNvPr id="15" name="Text 13"/>
          <p:cNvSpPr txBox="1"/>
          <p:nvPr/>
        </p:nvSpPr>
        <p:spPr>
          <a:xfrm>
            <a:off x="932688" y="4526280"/>
            <a:ext cx="4937760" cy="38404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How its scheduled jobs declare module ownership</a:t>
            </a:r>
            <a:endParaRPr lang="en-US" sz="1150" dirty="0"/>
          </a:p>
        </p:txBody>
      </p:sp>
      <p:sp>
        <p:nvSpPr>
          <p:cNvPr id="16" name="Shape 14"/>
          <p:cNvSpPr/>
          <p:nvPr/>
        </p:nvSpPr>
        <p:spPr>
          <a:xfrm>
            <a:off x="658368" y="5074920"/>
            <a:ext cx="128016" cy="128016"/>
          </a:xfrm>
          <a:prstGeom prst="ellipse">
            <a:avLst/>
          </a:prstGeom>
          <a:solidFill>
            <a:srgbClr val="065A82"/>
          </a:solidFill>
          <a:ln w="12700">
            <a:solidFill>
              <a:srgbClr val="065A82"/>
            </a:solidFill>
            <a:prstDash val="solid"/>
          </a:ln>
        </p:spPr>
      </p:sp>
      <p:sp>
        <p:nvSpPr>
          <p:cNvPr id="17" name="Text 15"/>
          <p:cNvSpPr txBox="1"/>
          <p:nvPr/>
        </p:nvSpPr>
        <p:spPr>
          <a:xfrm>
            <a:off x="932688" y="4983480"/>
            <a:ext cx="4937760" cy="384048"/>
          </a:xfrm>
          <a:prstGeom prst="rect">
            <a:avLst/>
          </a:prstGeom>
          <a:noFill/>
          <a:ln/>
        </p:spPr>
        <p:txBody>
          <a:bodyPr wrap="square" lIns="0" tIns="0" rIns="0" bIns="0" rtlCol="0" anchor="ctr"/>
          <a:lstStyle/>
          <a:p>
            <a:pPr indent="0" marL="0">
              <a:buNone/>
            </a:pPr>
            <a:r>
              <a:rPr lang="en-US" sz="1150" dirty="0">
                <a:solidFill>
                  <a:srgbClr val="5A6B7A"/>
                </a:solidFill>
                <a:latin typeface="Calibri" pitchFamily="34" charset="0"/>
                <a:ea typeface="Calibri" pitchFamily="34" charset="-122"/>
                <a:cs typeface="Calibri" pitchFamily="34" charset="-120"/>
              </a:rPr>
              <a:t>How its migrations plug into the shared schema</a:t>
            </a:r>
            <a:endParaRPr lang="en-US" sz="1150" dirty="0"/>
          </a:p>
        </p:txBody>
      </p:sp>
      <p:sp>
        <p:nvSpPr>
          <p:cNvPr id="18" name="Text 16"/>
          <p:cNvSpPr txBox="1"/>
          <p:nvPr/>
        </p:nvSpPr>
        <p:spPr>
          <a:xfrm>
            <a:off x="6217920" y="2743200"/>
            <a:ext cx="5394960" cy="32004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HR scope — MVP</a:t>
            </a:r>
            <a:endParaRPr lang="en-US" sz="1400" dirty="0"/>
          </a:p>
        </p:txBody>
      </p:sp>
      <p:sp>
        <p:nvSpPr>
          <p:cNvPr id="19" name="Shape 17"/>
          <p:cNvSpPr/>
          <p:nvPr/>
        </p:nvSpPr>
        <p:spPr>
          <a:xfrm>
            <a:off x="6217920" y="3154680"/>
            <a:ext cx="5394960" cy="402336"/>
          </a:xfrm>
          <a:prstGeom prst="roundRect">
            <a:avLst>
              <a:gd name="adj" fmla="val 11364"/>
            </a:avLst>
          </a:prstGeom>
          <a:solidFill>
            <a:srgbClr val="F4F7F9"/>
          </a:solidFill>
          <a:ln w="12700">
            <a:solidFill>
              <a:srgbClr val="DDE5EB"/>
            </a:solidFill>
            <a:prstDash val="solid"/>
          </a:ln>
        </p:spPr>
      </p:sp>
      <p:sp>
        <p:nvSpPr>
          <p:cNvPr id="20" name="Text 18"/>
          <p:cNvSpPr txBox="1"/>
          <p:nvPr/>
        </p:nvSpPr>
        <p:spPr>
          <a:xfrm>
            <a:off x="6446520" y="3154680"/>
            <a:ext cx="21031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Employee records</a:t>
            </a:r>
            <a:endParaRPr lang="en-US" sz="1150" dirty="0"/>
          </a:p>
        </p:txBody>
      </p:sp>
      <p:sp>
        <p:nvSpPr>
          <p:cNvPr id="21" name="Text 19"/>
          <p:cNvSpPr txBox="1"/>
          <p:nvPr/>
        </p:nvSpPr>
        <p:spPr>
          <a:xfrm>
            <a:off x="8595360" y="3154680"/>
            <a:ext cx="2834640" cy="402336"/>
          </a:xfrm>
          <a:prstGeom prst="rect">
            <a:avLst/>
          </a:prstGeom>
          <a:noFill/>
          <a:ln/>
        </p:spPr>
        <p:txBody>
          <a:bodyPr wrap="square" lIns="0" tIns="0" rIns="0" bIns="0" rtlCol="0" anchor="ctr"/>
          <a:lstStyle/>
          <a:p>
            <a:pPr indent="0" marL="0">
              <a:buNone/>
            </a:pPr>
            <a:r>
              <a:rPr lang="en-US" sz="1000" dirty="0">
                <a:solidFill>
                  <a:srgbClr val="5A6B7A"/>
                </a:solidFill>
                <a:latin typeface="Calibri" pitchFamily="34" charset="0"/>
                <a:ea typeface="Calibri" pitchFamily="34" charset="-122"/>
                <a:cs typeface="Calibri" pitchFamily="34" charset="-120"/>
              </a:rPr>
              <a:t>Core directory, contracts, documents</a:t>
            </a:r>
            <a:endParaRPr lang="en-US" sz="1000" dirty="0"/>
          </a:p>
        </p:txBody>
      </p:sp>
      <p:sp>
        <p:nvSpPr>
          <p:cNvPr id="22" name="Shape 20"/>
          <p:cNvSpPr/>
          <p:nvPr/>
        </p:nvSpPr>
        <p:spPr>
          <a:xfrm>
            <a:off x="6217920" y="3611880"/>
            <a:ext cx="5394960" cy="402336"/>
          </a:xfrm>
          <a:prstGeom prst="roundRect">
            <a:avLst>
              <a:gd name="adj" fmla="val 11364"/>
            </a:avLst>
          </a:prstGeom>
          <a:solidFill>
            <a:srgbClr val="F4F7F9"/>
          </a:solidFill>
          <a:ln w="12700">
            <a:solidFill>
              <a:srgbClr val="DDE5EB"/>
            </a:solidFill>
            <a:prstDash val="solid"/>
          </a:ln>
        </p:spPr>
      </p:sp>
      <p:sp>
        <p:nvSpPr>
          <p:cNvPr id="23" name="Text 21"/>
          <p:cNvSpPr txBox="1"/>
          <p:nvPr/>
        </p:nvSpPr>
        <p:spPr>
          <a:xfrm>
            <a:off x="6446520" y="3611880"/>
            <a:ext cx="21031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Org structure</a:t>
            </a:r>
            <a:endParaRPr lang="en-US" sz="1150" dirty="0"/>
          </a:p>
        </p:txBody>
      </p:sp>
      <p:sp>
        <p:nvSpPr>
          <p:cNvPr id="24" name="Text 22"/>
          <p:cNvSpPr txBox="1"/>
          <p:nvPr/>
        </p:nvSpPr>
        <p:spPr>
          <a:xfrm>
            <a:off x="8595360" y="3611880"/>
            <a:ext cx="2834640" cy="402336"/>
          </a:xfrm>
          <a:prstGeom prst="rect">
            <a:avLst/>
          </a:prstGeom>
          <a:noFill/>
          <a:ln/>
        </p:spPr>
        <p:txBody>
          <a:bodyPr wrap="square" lIns="0" tIns="0" rIns="0" bIns="0" rtlCol="0" anchor="ctr"/>
          <a:lstStyle/>
          <a:p>
            <a:pPr indent="0" marL="0">
              <a:buNone/>
            </a:pPr>
            <a:r>
              <a:rPr lang="en-US" sz="1000" dirty="0">
                <a:solidFill>
                  <a:srgbClr val="5A6B7A"/>
                </a:solidFill>
                <a:latin typeface="Calibri" pitchFamily="34" charset="0"/>
                <a:ea typeface="Calibri" pitchFamily="34" charset="-122"/>
                <a:cs typeface="Calibri" pitchFamily="34" charset="-120"/>
              </a:rPr>
              <a:t>Departments, reporting lines</a:t>
            </a:r>
            <a:endParaRPr lang="en-US" sz="1000" dirty="0"/>
          </a:p>
        </p:txBody>
      </p:sp>
      <p:sp>
        <p:nvSpPr>
          <p:cNvPr id="25" name="Shape 23"/>
          <p:cNvSpPr/>
          <p:nvPr/>
        </p:nvSpPr>
        <p:spPr>
          <a:xfrm>
            <a:off x="6217920" y="4069080"/>
            <a:ext cx="5394960" cy="402336"/>
          </a:xfrm>
          <a:prstGeom prst="roundRect">
            <a:avLst>
              <a:gd name="adj" fmla="val 11364"/>
            </a:avLst>
          </a:prstGeom>
          <a:solidFill>
            <a:srgbClr val="F4F7F9"/>
          </a:solidFill>
          <a:ln w="12700">
            <a:solidFill>
              <a:srgbClr val="DDE5EB"/>
            </a:solidFill>
            <a:prstDash val="solid"/>
          </a:ln>
        </p:spPr>
      </p:sp>
      <p:sp>
        <p:nvSpPr>
          <p:cNvPr id="26" name="Text 24"/>
          <p:cNvSpPr txBox="1"/>
          <p:nvPr/>
        </p:nvSpPr>
        <p:spPr>
          <a:xfrm>
            <a:off x="6446520" y="4069080"/>
            <a:ext cx="21031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Leave management</a:t>
            </a:r>
            <a:endParaRPr lang="en-US" sz="1150" dirty="0"/>
          </a:p>
        </p:txBody>
      </p:sp>
      <p:sp>
        <p:nvSpPr>
          <p:cNvPr id="27" name="Text 25"/>
          <p:cNvSpPr txBox="1"/>
          <p:nvPr/>
        </p:nvSpPr>
        <p:spPr>
          <a:xfrm>
            <a:off x="8595360" y="4069080"/>
            <a:ext cx="2834640" cy="402336"/>
          </a:xfrm>
          <a:prstGeom prst="rect">
            <a:avLst/>
          </a:prstGeom>
          <a:noFill/>
          <a:ln/>
        </p:spPr>
        <p:txBody>
          <a:bodyPr wrap="square" lIns="0" tIns="0" rIns="0" bIns="0" rtlCol="0" anchor="ctr"/>
          <a:lstStyle/>
          <a:p>
            <a:pPr indent="0" marL="0">
              <a:buNone/>
            </a:pPr>
            <a:r>
              <a:rPr lang="en-US" sz="1000" dirty="0">
                <a:solidFill>
                  <a:srgbClr val="5A6B7A"/>
                </a:solidFill>
                <a:latin typeface="Calibri" pitchFamily="34" charset="0"/>
                <a:ea typeface="Calibri" pitchFamily="34" charset="-122"/>
                <a:cs typeface="Calibri" pitchFamily="34" charset="-120"/>
              </a:rPr>
              <a:t>Requests, approvals, balances</a:t>
            </a:r>
            <a:endParaRPr lang="en-US" sz="1000" dirty="0"/>
          </a:p>
        </p:txBody>
      </p:sp>
      <p:sp>
        <p:nvSpPr>
          <p:cNvPr id="28" name="Shape 26"/>
          <p:cNvSpPr/>
          <p:nvPr/>
        </p:nvSpPr>
        <p:spPr>
          <a:xfrm>
            <a:off x="6217920" y="4526280"/>
            <a:ext cx="5394960" cy="402336"/>
          </a:xfrm>
          <a:prstGeom prst="roundRect">
            <a:avLst>
              <a:gd name="adj" fmla="val 11364"/>
            </a:avLst>
          </a:prstGeom>
          <a:solidFill>
            <a:srgbClr val="F4F7F9"/>
          </a:solidFill>
          <a:ln w="12700">
            <a:solidFill>
              <a:srgbClr val="DDE5EB"/>
            </a:solidFill>
            <a:prstDash val="solid"/>
          </a:ln>
        </p:spPr>
      </p:sp>
      <p:sp>
        <p:nvSpPr>
          <p:cNvPr id="29" name="Text 27"/>
          <p:cNvSpPr txBox="1"/>
          <p:nvPr/>
        </p:nvSpPr>
        <p:spPr>
          <a:xfrm>
            <a:off x="6446520" y="4526280"/>
            <a:ext cx="2103120" cy="402336"/>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Time &amp; attendance</a:t>
            </a:r>
            <a:endParaRPr lang="en-US" sz="1150" dirty="0"/>
          </a:p>
        </p:txBody>
      </p:sp>
      <p:sp>
        <p:nvSpPr>
          <p:cNvPr id="30" name="Text 28"/>
          <p:cNvSpPr txBox="1"/>
          <p:nvPr/>
        </p:nvSpPr>
        <p:spPr>
          <a:xfrm>
            <a:off x="8595360" y="4526280"/>
            <a:ext cx="2834640" cy="402336"/>
          </a:xfrm>
          <a:prstGeom prst="rect">
            <a:avLst/>
          </a:prstGeom>
          <a:noFill/>
          <a:ln/>
        </p:spPr>
        <p:txBody>
          <a:bodyPr wrap="square" lIns="0" tIns="0" rIns="0" bIns="0" rtlCol="0" anchor="ctr"/>
          <a:lstStyle/>
          <a:p>
            <a:pPr indent="0" marL="0">
              <a:buNone/>
            </a:pPr>
            <a:r>
              <a:rPr lang="en-US" sz="1000" dirty="0">
                <a:solidFill>
                  <a:srgbClr val="5A6B7A"/>
                </a:solidFill>
                <a:latin typeface="Calibri" pitchFamily="34" charset="0"/>
                <a:ea typeface="Calibri" pitchFamily="34" charset="-122"/>
                <a:cs typeface="Calibri" pitchFamily="34" charset="-120"/>
              </a:rPr>
              <a:t>Basic tracking</a:t>
            </a:r>
            <a:endParaRPr lang="en-US" sz="1000" dirty="0"/>
          </a:p>
        </p:txBody>
      </p:sp>
      <p:sp>
        <p:nvSpPr>
          <p:cNvPr id="31" name="Shape 29"/>
          <p:cNvSpPr/>
          <p:nvPr/>
        </p:nvSpPr>
        <p:spPr>
          <a:xfrm>
            <a:off x="6217920" y="4983480"/>
            <a:ext cx="5394960" cy="402336"/>
          </a:xfrm>
          <a:prstGeom prst="roundRect">
            <a:avLst>
              <a:gd name="adj" fmla="val 11364"/>
            </a:avLst>
          </a:prstGeom>
          <a:solidFill>
            <a:srgbClr val="FBE9E7"/>
          </a:solidFill>
          <a:ln w="12700">
            <a:solidFill>
              <a:srgbClr val="F0C4BC"/>
            </a:solidFill>
            <a:prstDash val="solid"/>
          </a:ln>
        </p:spPr>
      </p:sp>
      <p:sp>
        <p:nvSpPr>
          <p:cNvPr id="32" name="Text 30"/>
          <p:cNvSpPr txBox="1"/>
          <p:nvPr/>
        </p:nvSpPr>
        <p:spPr>
          <a:xfrm>
            <a:off x="6446520" y="4983480"/>
            <a:ext cx="2103120" cy="402336"/>
          </a:xfrm>
          <a:prstGeom prst="rect">
            <a:avLst/>
          </a:prstGeom>
          <a:noFill/>
          <a:ln/>
        </p:spPr>
        <p:txBody>
          <a:bodyPr wrap="square" lIns="0" tIns="0" rIns="0" bIns="0" rtlCol="0" anchor="ctr"/>
          <a:lstStyle/>
          <a:p>
            <a:pPr indent="0" marL="0">
              <a:buNone/>
            </a:pPr>
            <a:r>
              <a:rPr lang="en-US" sz="1150" b="1" dirty="0">
                <a:solidFill>
                  <a:srgbClr val="A8321E"/>
                </a:solidFill>
                <a:latin typeface="Calibri" pitchFamily="34" charset="0"/>
                <a:ea typeface="Calibri" pitchFamily="34" charset="-122"/>
                <a:cs typeface="Calibri" pitchFamily="34" charset="-120"/>
              </a:rPr>
              <a:t>Payroll</a:t>
            </a:r>
            <a:endParaRPr lang="en-US" sz="1150" dirty="0"/>
          </a:p>
        </p:txBody>
      </p:sp>
      <p:sp>
        <p:nvSpPr>
          <p:cNvPr id="33" name="Text 31"/>
          <p:cNvSpPr txBox="1"/>
          <p:nvPr/>
        </p:nvSpPr>
        <p:spPr>
          <a:xfrm>
            <a:off x="8595360" y="4983480"/>
            <a:ext cx="2834640" cy="402336"/>
          </a:xfrm>
          <a:prstGeom prst="rect">
            <a:avLst/>
          </a:prstGeom>
          <a:noFill/>
          <a:ln/>
        </p:spPr>
        <p:txBody>
          <a:bodyPr wrap="square" lIns="0" tIns="0" rIns="0" bIns="0" rtlCol="0" anchor="ctr"/>
          <a:lstStyle/>
          <a:p>
            <a:pPr indent="0" marL="0">
              <a:buNone/>
            </a:pPr>
            <a:r>
              <a:rPr lang="en-US" sz="1000" dirty="0">
                <a:solidFill>
                  <a:srgbClr val="8A3A28"/>
                </a:solidFill>
                <a:latin typeface="Calibri" pitchFamily="34" charset="0"/>
                <a:ea typeface="Calibri" pitchFamily="34" charset="-122"/>
                <a:cs typeface="Calibri" pitchFamily="34" charset="-120"/>
              </a:rPr>
              <a:t>DEFERRED — high complexity, locale-specific rules</a:t>
            </a:r>
            <a:endParaRPr lang="en-US" sz="1000" dirty="0"/>
          </a:p>
        </p:txBody>
      </p:sp>
      <p:sp>
        <p:nvSpPr>
          <p:cNvPr id="34" name="Text 32"/>
          <p:cNvSpPr txBox="1"/>
          <p:nvPr/>
        </p:nvSpPr>
        <p:spPr>
          <a:xfrm>
            <a:off x="548640" y="5623560"/>
            <a:ext cx="11064240" cy="320040"/>
          </a:xfrm>
          <a:prstGeom prst="rect">
            <a:avLst/>
          </a:prstGeom>
          <a:noFill/>
          <a:ln/>
        </p:spPr>
        <p:txBody>
          <a:bodyPr wrap="square" lIns="0" tIns="0" rIns="0" bIns="0" rtlCol="0" anchor="ctr"/>
          <a:lstStyle/>
          <a:p>
            <a:pPr indent="0" marL="0">
              <a:buNone/>
            </a:pPr>
            <a:r>
              <a:rPr lang="en-US" sz="1150" i="1" dirty="0">
                <a:solidFill>
                  <a:srgbClr val="1C7293"/>
                </a:solidFill>
                <a:latin typeface="Calibri" pitchFamily="34" charset="0"/>
                <a:ea typeface="Calibri" pitchFamily="34" charset="-122"/>
                <a:cs typeface="Calibri" pitchFamily="34" charset="-120"/>
              </a:rPr>
              <a:t>HR is form-heavy and permission-heavy — a good first test of both Angular's forms layer and our role model.</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1064240" cy="658368"/>
          </a:xfrm>
          <a:prstGeom prst="rect">
            <a:avLst/>
          </a:prstGeom>
          <a:noFill/>
          <a:ln/>
        </p:spPr>
        <p:txBody>
          <a:bodyPr wrap="square" lIns="0" tIns="0" rIns="0" bIns="0" rtlCol="0" anchor="ctr"/>
          <a:lstStyle/>
          <a:p>
            <a:pPr indent="0" marL="0">
              <a:buNone/>
            </a:pPr>
            <a:r>
              <a:rPr lang="en-US" sz="3300" b="1" dirty="0">
                <a:solidFill>
                  <a:srgbClr val="21295C"/>
                </a:solidFill>
                <a:latin typeface="Cambria" pitchFamily="34" charset="0"/>
                <a:ea typeface="Cambria" pitchFamily="34" charset="-122"/>
                <a:cs typeface="Cambria" pitchFamily="34" charset="-120"/>
              </a:rPr>
              <a:t>Build Order &amp; The First Milestone</a:t>
            </a:r>
            <a:endParaRPr lang="en-US" sz="3300" dirty="0"/>
          </a:p>
        </p:txBody>
      </p:sp>
      <p:sp>
        <p:nvSpPr>
          <p:cNvPr id="3" name="Text 1"/>
          <p:cNvSpPr txBox="1"/>
          <p:nvPr/>
        </p:nvSpPr>
        <p:spPr>
          <a:xfrm>
            <a:off x="548640" y="1024128"/>
            <a:ext cx="11064240" cy="347472"/>
          </a:xfrm>
          <a:prstGeom prst="rect">
            <a:avLst/>
          </a:prstGeom>
          <a:noFill/>
          <a:ln/>
        </p:spPr>
        <p:txBody>
          <a:bodyPr wrap="square" lIns="0" tIns="0" rIns="0" bIns="0" rtlCol="0" anchor="ctr"/>
          <a:lstStyle/>
          <a:p>
            <a:pPr indent="0" marL="0">
              <a:buNone/>
            </a:pPr>
            <a:r>
              <a:rPr lang="en-US" sz="1350" dirty="0">
                <a:solidFill>
                  <a:srgbClr val="5A6B7A"/>
                </a:solidFill>
                <a:latin typeface="Calibri" pitchFamily="34" charset="0"/>
                <a:ea typeface="Calibri" pitchFamily="34" charset="-122"/>
                <a:cs typeface="Calibri" pitchFamily="34" charset="-120"/>
              </a:rPr>
              <a:t>Data foundations come before services — retrofitting them onto live data is far harder</a:t>
            </a:r>
            <a:endParaRPr lang="en-US" sz="1350" dirty="0"/>
          </a:p>
        </p:txBody>
      </p:sp>
      <p:sp>
        <p:nvSpPr>
          <p:cNvPr id="4" name="Shape 2"/>
          <p:cNvSpPr/>
          <p:nvPr/>
        </p:nvSpPr>
        <p:spPr>
          <a:xfrm>
            <a:off x="548640" y="1600200"/>
            <a:ext cx="5486400" cy="475488"/>
          </a:xfrm>
          <a:prstGeom prst="roundRect">
            <a:avLst>
              <a:gd name="adj" fmla="val 9615"/>
            </a:avLst>
          </a:prstGeom>
          <a:solidFill>
            <a:srgbClr val="F4F7F9"/>
          </a:solidFill>
          <a:ln w="12700">
            <a:solidFill>
              <a:srgbClr val="DDE5EB"/>
            </a:solidFill>
            <a:prstDash val="solid"/>
          </a:ln>
        </p:spPr>
      </p:sp>
      <p:sp>
        <p:nvSpPr>
          <p:cNvPr id="5" name="Shape 3"/>
          <p:cNvSpPr/>
          <p:nvPr/>
        </p:nvSpPr>
        <p:spPr>
          <a:xfrm>
            <a:off x="713232" y="1700784"/>
            <a:ext cx="274320" cy="274320"/>
          </a:xfrm>
          <a:prstGeom prst="ellipse">
            <a:avLst/>
          </a:prstGeom>
          <a:solidFill>
            <a:srgbClr val="065A82"/>
          </a:solidFill>
          <a:ln w="12700">
            <a:solidFill>
              <a:srgbClr val="065A82"/>
            </a:solidFill>
            <a:prstDash val="solid"/>
          </a:ln>
        </p:spPr>
      </p:sp>
      <p:sp>
        <p:nvSpPr>
          <p:cNvPr id="6" name="Text 4"/>
          <p:cNvSpPr txBox="1"/>
          <p:nvPr/>
        </p:nvSpPr>
        <p:spPr>
          <a:xfrm>
            <a:off x="713232" y="1719072"/>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txBox="1"/>
          <p:nvPr/>
        </p:nvSpPr>
        <p:spPr>
          <a:xfrm>
            <a:off x="1115568" y="1600200"/>
            <a:ext cx="1600200" cy="47548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Infrastructure</a:t>
            </a:r>
            <a:endParaRPr lang="en-US" sz="1150" dirty="0"/>
          </a:p>
        </p:txBody>
      </p:sp>
      <p:sp>
        <p:nvSpPr>
          <p:cNvPr id="8" name="Text 6"/>
          <p:cNvSpPr txBox="1"/>
          <p:nvPr/>
        </p:nvSpPr>
        <p:spPr>
          <a:xfrm>
            <a:off x="2743200" y="1600200"/>
            <a:ext cx="3154680" cy="47548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K8s, Postgres, Redis, PgBouncer, CI/CD, observability</a:t>
            </a:r>
            <a:endParaRPr lang="en-US" sz="950" dirty="0"/>
          </a:p>
        </p:txBody>
      </p:sp>
      <p:sp>
        <p:nvSpPr>
          <p:cNvPr id="9" name="Shape 7"/>
          <p:cNvSpPr/>
          <p:nvPr/>
        </p:nvSpPr>
        <p:spPr>
          <a:xfrm>
            <a:off x="548640" y="2148840"/>
            <a:ext cx="5486400" cy="475488"/>
          </a:xfrm>
          <a:prstGeom prst="roundRect">
            <a:avLst>
              <a:gd name="adj" fmla="val 9615"/>
            </a:avLst>
          </a:prstGeom>
          <a:solidFill>
            <a:srgbClr val="F4F7F9"/>
          </a:solidFill>
          <a:ln w="12700">
            <a:solidFill>
              <a:srgbClr val="DDE5EB"/>
            </a:solidFill>
            <a:prstDash val="solid"/>
          </a:ln>
        </p:spPr>
      </p:sp>
      <p:sp>
        <p:nvSpPr>
          <p:cNvPr id="10" name="Shape 8"/>
          <p:cNvSpPr/>
          <p:nvPr/>
        </p:nvSpPr>
        <p:spPr>
          <a:xfrm>
            <a:off x="713232" y="2249424"/>
            <a:ext cx="274320" cy="274320"/>
          </a:xfrm>
          <a:prstGeom prst="ellipse">
            <a:avLst/>
          </a:prstGeom>
          <a:solidFill>
            <a:srgbClr val="065A82"/>
          </a:solidFill>
          <a:ln w="12700">
            <a:solidFill>
              <a:srgbClr val="065A82"/>
            </a:solidFill>
            <a:prstDash val="solid"/>
          </a:ln>
        </p:spPr>
      </p:sp>
      <p:sp>
        <p:nvSpPr>
          <p:cNvPr id="11" name="Text 9"/>
          <p:cNvSpPr txBox="1"/>
          <p:nvPr/>
        </p:nvSpPr>
        <p:spPr>
          <a:xfrm>
            <a:off x="713232" y="2267712"/>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txBox="1"/>
          <p:nvPr/>
        </p:nvSpPr>
        <p:spPr>
          <a:xfrm>
            <a:off x="1115568" y="2148840"/>
            <a:ext cx="1600200" cy="47548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Keycloak</a:t>
            </a:r>
            <a:endParaRPr lang="en-US" sz="1150" dirty="0"/>
          </a:p>
        </p:txBody>
      </p:sp>
      <p:sp>
        <p:nvSpPr>
          <p:cNvPr id="13" name="Text 11"/>
          <p:cNvSpPr txBox="1"/>
          <p:nvPr/>
        </p:nvSpPr>
        <p:spPr>
          <a:xfrm>
            <a:off x="2743200" y="2148840"/>
            <a:ext cx="3154680" cy="47548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Single realm, tenant = group, token = tenant_id + roles only</a:t>
            </a:r>
            <a:endParaRPr lang="en-US" sz="950" dirty="0"/>
          </a:p>
        </p:txBody>
      </p:sp>
      <p:sp>
        <p:nvSpPr>
          <p:cNvPr id="14" name="Shape 12"/>
          <p:cNvSpPr/>
          <p:nvPr/>
        </p:nvSpPr>
        <p:spPr>
          <a:xfrm>
            <a:off x="548640" y="2697480"/>
            <a:ext cx="5486400" cy="475488"/>
          </a:xfrm>
          <a:prstGeom prst="roundRect">
            <a:avLst>
              <a:gd name="adj" fmla="val 9615"/>
            </a:avLst>
          </a:prstGeom>
          <a:solidFill>
            <a:srgbClr val="E8F1E9"/>
          </a:solidFill>
          <a:ln w="12700">
            <a:solidFill>
              <a:srgbClr val="C3DDCB"/>
            </a:solidFill>
            <a:prstDash val="solid"/>
          </a:ln>
        </p:spPr>
      </p:sp>
      <p:sp>
        <p:nvSpPr>
          <p:cNvPr id="15" name="Shape 13"/>
          <p:cNvSpPr/>
          <p:nvPr/>
        </p:nvSpPr>
        <p:spPr>
          <a:xfrm>
            <a:off x="713232" y="2798064"/>
            <a:ext cx="274320" cy="274320"/>
          </a:xfrm>
          <a:prstGeom prst="ellipse">
            <a:avLst/>
          </a:prstGeom>
          <a:solidFill>
            <a:srgbClr val="2E7D5B"/>
          </a:solidFill>
          <a:ln w="12700">
            <a:solidFill>
              <a:srgbClr val="2E7D5B"/>
            </a:solidFill>
            <a:prstDash val="solid"/>
          </a:ln>
        </p:spPr>
      </p:sp>
      <p:sp>
        <p:nvSpPr>
          <p:cNvPr id="16" name="Text 14"/>
          <p:cNvSpPr txBox="1"/>
          <p:nvPr/>
        </p:nvSpPr>
        <p:spPr>
          <a:xfrm>
            <a:off x="713232" y="2816352"/>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5"/>
          <p:cNvSpPr txBox="1"/>
          <p:nvPr/>
        </p:nvSpPr>
        <p:spPr>
          <a:xfrm>
            <a:off x="1115568" y="2697480"/>
            <a:ext cx="1600200" cy="47548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Data foundations</a:t>
            </a:r>
            <a:endParaRPr lang="en-US" sz="1150" dirty="0"/>
          </a:p>
        </p:txBody>
      </p:sp>
      <p:sp>
        <p:nvSpPr>
          <p:cNvPr id="18" name="Text 16"/>
          <p:cNvSpPr txBox="1"/>
          <p:nvPr/>
        </p:nvSpPr>
        <p:spPr>
          <a:xfrm>
            <a:off x="2743200" y="2697480"/>
            <a:ext cx="3154680" cy="47548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Resolution layer, RLS, schema rules, cross-tenant tests in CI</a:t>
            </a:r>
            <a:endParaRPr lang="en-US" sz="950" dirty="0"/>
          </a:p>
        </p:txBody>
      </p:sp>
      <p:sp>
        <p:nvSpPr>
          <p:cNvPr id="19" name="Shape 17"/>
          <p:cNvSpPr/>
          <p:nvPr/>
        </p:nvSpPr>
        <p:spPr>
          <a:xfrm>
            <a:off x="548640" y="3246120"/>
            <a:ext cx="5486400" cy="475488"/>
          </a:xfrm>
          <a:prstGeom prst="roundRect">
            <a:avLst>
              <a:gd name="adj" fmla="val 9615"/>
            </a:avLst>
          </a:prstGeom>
          <a:solidFill>
            <a:srgbClr val="F4F7F9"/>
          </a:solidFill>
          <a:ln w="12700">
            <a:solidFill>
              <a:srgbClr val="DDE5EB"/>
            </a:solidFill>
            <a:prstDash val="solid"/>
          </a:ln>
        </p:spPr>
      </p:sp>
      <p:sp>
        <p:nvSpPr>
          <p:cNvPr id="20" name="Shape 18"/>
          <p:cNvSpPr/>
          <p:nvPr/>
        </p:nvSpPr>
        <p:spPr>
          <a:xfrm>
            <a:off x="713232" y="3346704"/>
            <a:ext cx="274320" cy="274320"/>
          </a:xfrm>
          <a:prstGeom prst="ellipse">
            <a:avLst/>
          </a:prstGeom>
          <a:solidFill>
            <a:srgbClr val="065A82"/>
          </a:solidFill>
          <a:ln w="12700">
            <a:solidFill>
              <a:srgbClr val="065A82"/>
            </a:solidFill>
            <a:prstDash val="solid"/>
          </a:ln>
        </p:spPr>
      </p:sp>
      <p:sp>
        <p:nvSpPr>
          <p:cNvPr id="21" name="Text 19"/>
          <p:cNvSpPr txBox="1"/>
          <p:nvPr/>
        </p:nvSpPr>
        <p:spPr>
          <a:xfrm>
            <a:off x="713232" y="3364992"/>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2" name="Text 20"/>
          <p:cNvSpPr txBox="1"/>
          <p:nvPr/>
        </p:nvSpPr>
        <p:spPr>
          <a:xfrm>
            <a:off x="1115568" y="3246120"/>
            <a:ext cx="1600200" cy="47548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Core platform</a:t>
            </a:r>
            <a:endParaRPr lang="en-US" sz="1150" dirty="0"/>
          </a:p>
        </p:txBody>
      </p:sp>
      <p:sp>
        <p:nvSpPr>
          <p:cNvPr id="23" name="Text 21"/>
          <p:cNvSpPr txBox="1"/>
          <p:nvPr/>
        </p:nvSpPr>
        <p:spPr>
          <a:xfrm>
            <a:off x="2743200" y="3246120"/>
            <a:ext cx="3154680" cy="47548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Tenant, Catalog, Pack, Subscription, entitlement guard, export</a:t>
            </a:r>
            <a:endParaRPr lang="en-US" sz="950" dirty="0"/>
          </a:p>
        </p:txBody>
      </p:sp>
      <p:sp>
        <p:nvSpPr>
          <p:cNvPr id="24" name="Shape 22"/>
          <p:cNvSpPr/>
          <p:nvPr/>
        </p:nvSpPr>
        <p:spPr>
          <a:xfrm>
            <a:off x="548640" y="3794760"/>
            <a:ext cx="5486400" cy="475488"/>
          </a:xfrm>
          <a:prstGeom prst="roundRect">
            <a:avLst>
              <a:gd name="adj" fmla="val 9615"/>
            </a:avLst>
          </a:prstGeom>
          <a:solidFill>
            <a:srgbClr val="F4F7F9"/>
          </a:solidFill>
          <a:ln w="12700">
            <a:solidFill>
              <a:srgbClr val="DDE5EB"/>
            </a:solidFill>
            <a:prstDash val="solid"/>
          </a:ln>
        </p:spPr>
      </p:sp>
      <p:sp>
        <p:nvSpPr>
          <p:cNvPr id="25" name="Shape 23"/>
          <p:cNvSpPr/>
          <p:nvPr/>
        </p:nvSpPr>
        <p:spPr>
          <a:xfrm>
            <a:off x="713232" y="3895344"/>
            <a:ext cx="274320" cy="274320"/>
          </a:xfrm>
          <a:prstGeom prst="ellipse">
            <a:avLst/>
          </a:prstGeom>
          <a:solidFill>
            <a:srgbClr val="065A82"/>
          </a:solidFill>
          <a:ln w="12700">
            <a:solidFill>
              <a:srgbClr val="065A82"/>
            </a:solidFill>
            <a:prstDash val="solid"/>
          </a:ln>
        </p:spPr>
      </p:sp>
      <p:sp>
        <p:nvSpPr>
          <p:cNvPr id="26" name="Text 24"/>
          <p:cNvSpPr txBox="1"/>
          <p:nvPr/>
        </p:nvSpPr>
        <p:spPr>
          <a:xfrm>
            <a:off x="713232" y="3913632"/>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7" name="Text 25"/>
          <p:cNvSpPr txBox="1"/>
          <p:nvPr/>
        </p:nvSpPr>
        <p:spPr>
          <a:xfrm>
            <a:off x="1115568" y="3794760"/>
            <a:ext cx="1600200" cy="47548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Billing</a:t>
            </a:r>
            <a:endParaRPr lang="en-US" sz="1150" dirty="0"/>
          </a:p>
        </p:txBody>
      </p:sp>
      <p:sp>
        <p:nvSpPr>
          <p:cNvPr id="28" name="Text 26"/>
          <p:cNvSpPr txBox="1"/>
          <p:nvPr/>
        </p:nvSpPr>
        <p:spPr>
          <a:xfrm>
            <a:off x="2743200" y="3794760"/>
            <a:ext cx="3154680" cy="47548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Provider integration, invoicing, webhooks, dunning</a:t>
            </a:r>
            <a:endParaRPr lang="en-US" sz="950" dirty="0"/>
          </a:p>
        </p:txBody>
      </p:sp>
      <p:sp>
        <p:nvSpPr>
          <p:cNvPr id="29" name="Shape 27"/>
          <p:cNvSpPr/>
          <p:nvPr/>
        </p:nvSpPr>
        <p:spPr>
          <a:xfrm>
            <a:off x="548640" y="4343400"/>
            <a:ext cx="5486400" cy="475488"/>
          </a:xfrm>
          <a:prstGeom prst="roundRect">
            <a:avLst>
              <a:gd name="adj" fmla="val 9615"/>
            </a:avLst>
          </a:prstGeom>
          <a:solidFill>
            <a:srgbClr val="F4F7F9"/>
          </a:solidFill>
          <a:ln w="12700">
            <a:solidFill>
              <a:srgbClr val="DDE5EB"/>
            </a:solidFill>
            <a:prstDash val="solid"/>
          </a:ln>
        </p:spPr>
      </p:sp>
      <p:sp>
        <p:nvSpPr>
          <p:cNvPr id="30" name="Shape 28"/>
          <p:cNvSpPr/>
          <p:nvPr/>
        </p:nvSpPr>
        <p:spPr>
          <a:xfrm>
            <a:off x="713232" y="4443984"/>
            <a:ext cx="274320" cy="274320"/>
          </a:xfrm>
          <a:prstGeom prst="ellipse">
            <a:avLst/>
          </a:prstGeom>
          <a:solidFill>
            <a:srgbClr val="065A82"/>
          </a:solidFill>
          <a:ln w="12700">
            <a:solidFill>
              <a:srgbClr val="065A82"/>
            </a:solidFill>
            <a:prstDash val="solid"/>
          </a:ln>
        </p:spPr>
      </p:sp>
      <p:sp>
        <p:nvSpPr>
          <p:cNvPr id="31" name="Text 29"/>
          <p:cNvSpPr txBox="1"/>
          <p:nvPr/>
        </p:nvSpPr>
        <p:spPr>
          <a:xfrm>
            <a:off x="713232" y="4462272"/>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32" name="Text 30"/>
          <p:cNvSpPr txBox="1"/>
          <p:nvPr/>
        </p:nvSpPr>
        <p:spPr>
          <a:xfrm>
            <a:off x="1115568" y="4343400"/>
            <a:ext cx="1600200" cy="47548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HR module</a:t>
            </a:r>
            <a:endParaRPr lang="en-US" sz="1150" dirty="0"/>
          </a:p>
        </p:txBody>
      </p:sp>
      <p:sp>
        <p:nvSpPr>
          <p:cNvPr id="33" name="Text 31"/>
          <p:cNvSpPr txBox="1"/>
          <p:nvPr/>
        </p:nvSpPr>
        <p:spPr>
          <a:xfrm>
            <a:off x="2743200" y="4343400"/>
            <a:ext cx="3154680" cy="47548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Plugin contract first, then HR against it</a:t>
            </a:r>
            <a:endParaRPr lang="en-US" sz="950" dirty="0"/>
          </a:p>
        </p:txBody>
      </p:sp>
      <p:sp>
        <p:nvSpPr>
          <p:cNvPr id="34" name="Shape 32"/>
          <p:cNvSpPr/>
          <p:nvPr/>
        </p:nvSpPr>
        <p:spPr>
          <a:xfrm>
            <a:off x="548640" y="4892040"/>
            <a:ext cx="5486400" cy="475488"/>
          </a:xfrm>
          <a:prstGeom prst="roundRect">
            <a:avLst>
              <a:gd name="adj" fmla="val 9615"/>
            </a:avLst>
          </a:prstGeom>
          <a:solidFill>
            <a:srgbClr val="F4F7F9"/>
          </a:solidFill>
          <a:ln w="12700">
            <a:solidFill>
              <a:srgbClr val="DDE5EB"/>
            </a:solidFill>
            <a:prstDash val="solid"/>
          </a:ln>
        </p:spPr>
      </p:sp>
      <p:sp>
        <p:nvSpPr>
          <p:cNvPr id="35" name="Shape 33"/>
          <p:cNvSpPr/>
          <p:nvPr/>
        </p:nvSpPr>
        <p:spPr>
          <a:xfrm>
            <a:off x="713232" y="4992624"/>
            <a:ext cx="274320" cy="274320"/>
          </a:xfrm>
          <a:prstGeom prst="ellipse">
            <a:avLst/>
          </a:prstGeom>
          <a:solidFill>
            <a:srgbClr val="065A82"/>
          </a:solidFill>
          <a:ln w="12700">
            <a:solidFill>
              <a:srgbClr val="065A82"/>
            </a:solidFill>
            <a:prstDash val="solid"/>
          </a:ln>
        </p:spPr>
      </p:sp>
      <p:sp>
        <p:nvSpPr>
          <p:cNvPr id="36" name="Text 34"/>
          <p:cNvSpPr txBox="1"/>
          <p:nvPr/>
        </p:nvSpPr>
        <p:spPr>
          <a:xfrm>
            <a:off x="713232" y="5010912"/>
            <a:ext cx="274320"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37" name="Text 35"/>
          <p:cNvSpPr txBox="1"/>
          <p:nvPr/>
        </p:nvSpPr>
        <p:spPr>
          <a:xfrm>
            <a:off x="1115568" y="4892040"/>
            <a:ext cx="1600200" cy="475488"/>
          </a:xfrm>
          <a:prstGeom prst="rect">
            <a:avLst/>
          </a:prstGeom>
          <a:noFill/>
          <a:ln/>
        </p:spPr>
        <p:txBody>
          <a:bodyPr wrap="square" lIns="0" tIns="0" rIns="0" bIns="0" rtlCol="0" anchor="ctr"/>
          <a:lstStyle/>
          <a:p>
            <a:pPr indent="0" marL="0">
              <a:buNone/>
            </a:pPr>
            <a:r>
              <a:rPr lang="en-US" sz="1150" b="1" dirty="0">
                <a:solidFill>
                  <a:srgbClr val="21295C"/>
                </a:solidFill>
                <a:latin typeface="Cambria" pitchFamily="34" charset="0"/>
                <a:ea typeface="Cambria" pitchFamily="34" charset="-122"/>
                <a:cs typeface="Cambria" pitchFamily="34" charset="-120"/>
              </a:rPr>
              <a:t>Portals</a:t>
            </a:r>
            <a:endParaRPr lang="en-US" sz="1150" dirty="0"/>
          </a:p>
        </p:txBody>
      </p:sp>
      <p:sp>
        <p:nvSpPr>
          <p:cNvPr id="38" name="Text 36"/>
          <p:cNvSpPr txBox="1"/>
          <p:nvPr/>
        </p:nvSpPr>
        <p:spPr>
          <a:xfrm>
            <a:off x="2743200" y="4892040"/>
            <a:ext cx="3154680" cy="475488"/>
          </a:xfrm>
          <a:prstGeom prst="rect">
            <a:avLst/>
          </a:prstGeom>
          <a:noFill/>
          <a:ln/>
        </p:spPr>
        <p:txBody>
          <a:bodyPr wrap="square" lIns="0" tIns="0" rIns="0" bIns="0" rtlCol="0" anchor="ctr"/>
          <a:lstStyle/>
          <a:p>
            <a:pPr indent="0" marL="0">
              <a:buNone/>
            </a:pPr>
            <a:r>
              <a:rPr lang="en-US" sz="950" dirty="0">
                <a:solidFill>
                  <a:srgbClr val="5A6B7A"/>
                </a:solidFill>
                <a:latin typeface="Calibri" pitchFamily="34" charset="0"/>
                <a:ea typeface="Calibri" pitchFamily="34" charset="-122"/>
                <a:cs typeface="Calibri" pitchFamily="34" charset="-120"/>
              </a:rPr>
              <a:t>Angular tenant portal + admin portal</a:t>
            </a:r>
            <a:endParaRPr lang="en-US" sz="950" dirty="0"/>
          </a:p>
        </p:txBody>
      </p:sp>
      <p:sp>
        <p:nvSpPr>
          <p:cNvPr id="39" name="Shape 37"/>
          <p:cNvSpPr/>
          <p:nvPr/>
        </p:nvSpPr>
        <p:spPr>
          <a:xfrm>
            <a:off x="6355080" y="1600200"/>
            <a:ext cx="5257800" cy="3794760"/>
          </a:xfrm>
          <a:prstGeom prst="roundRect">
            <a:avLst>
              <a:gd name="adj" fmla="val 1928"/>
            </a:avLst>
          </a:prstGeom>
          <a:solidFill>
            <a:srgbClr val="21295C"/>
          </a:solidFill>
          <a:ln w="12700">
            <a:solidFill>
              <a:srgbClr val="21295C"/>
            </a:solidFill>
            <a:prstDash val="solid"/>
          </a:ln>
        </p:spPr>
      </p:sp>
      <p:sp>
        <p:nvSpPr>
          <p:cNvPr id="40" name="Text 38"/>
          <p:cNvSpPr txBox="1"/>
          <p:nvPr/>
        </p:nvSpPr>
        <p:spPr>
          <a:xfrm>
            <a:off x="6629400" y="1783080"/>
            <a:ext cx="4709160" cy="274320"/>
          </a:xfrm>
          <a:prstGeom prst="rect">
            <a:avLst/>
          </a:prstGeom>
          <a:noFill/>
          <a:ln/>
        </p:spPr>
        <p:txBody>
          <a:bodyPr wrap="square" lIns="0" tIns="0" rIns="0" bIns="0" rtlCol="0" anchor="ctr"/>
          <a:lstStyle/>
          <a:p>
            <a:pPr indent="0" marL="0">
              <a:buNone/>
            </a:pPr>
            <a:r>
              <a:rPr lang="en-US" sz="1000" b="1" spc="100" kern="0" dirty="0">
                <a:solidFill>
                  <a:srgbClr val="D98E04"/>
                </a:solidFill>
                <a:latin typeface="Calibri" pitchFamily="34" charset="0"/>
                <a:ea typeface="Calibri" pitchFamily="34" charset="-122"/>
                <a:cs typeface="Calibri" pitchFamily="34" charset="-120"/>
              </a:rPr>
              <a:t>FIRST MILESTONE — vertical slice</a:t>
            </a:r>
            <a:endParaRPr lang="en-US" sz="1000" dirty="0"/>
          </a:p>
        </p:txBody>
      </p:sp>
      <p:sp>
        <p:nvSpPr>
          <p:cNvPr id="41" name="Text 39"/>
          <p:cNvSpPr txBox="1"/>
          <p:nvPr/>
        </p:nvSpPr>
        <p:spPr>
          <a:xfrm>
            <a:off x="6629400" y="2084832"/>
            <a:ext cx="4709160" cy="347472"/>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Prove the whole spine before building breadth</a:t>
            </a:r>
            <a:endParaRPr lang="en-US" sz="1500" dirty="0"/>
          </a:p>
        </p:txBody>
      </p:sp>
      <p:sp>
        <p:nvSpPr>
          <p:cNvPr id="42" name="Shape 40"/>
          <p:cNvSpPr/>
          <p:nvPr/>
        </p:nvSpPr>
        <p:spPr>
          <a:xfrm>
            <a:off x="6720840" y="2715768"/>
            <a:ext cx="118872" cy="118872"/>
          </a:xfrm>
          <a:prstGeom prst="ellipse">
            <a:avLst/>
          </a:prstGeom>
          <a:solidFill>
            <a:srgbClr val="D98E04"/>
          </a:solidFill>
          <a:ln w="12700">
            <a:solidFill>
              <a:srgbClr val="D98E04"/>
            </a:solidFill>
            <a:prstDash val="solid"/>
          </a:ln>
        </p:spPr>
      </p:sp>
      <p:sp>
        <p:nvSpPr>
          <p:cNvPr id="43" name="Text 41"/>
          <p:cNvSpPr txBox="1"/>
          <p:nvPr/>
        </p:nvSpPr>
        <p:spPr>
          <a:xfrm>
            <a:off x="6995160" y="2606040"/>
            <a:ext cx="4389120" cy="3657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Tenant signs up → provisioned (record + Keycloak group + admin)</a:t>
            </a:r>
            <a:endParaRPr lang="en-US" sz="1050" dirty="0"/>
          </a:p>
        </p:txBody>
      </p:sp>
      <p:sp>
        <p:nvSpPr>
          <p:cNvPr id="44" name="Shape 42"/>
          <p:cNvSpPr/>
          <p:nvPr/>
        </p:nvSpPr>
        <p:spPr>
          <a:xfrm>
            <a:off x="6720840" y="3118104"/>
            <a:ext cx="118872" cy="118872"/>
          </a:xfrm>
          <a:prstGeom prst="ellipse">
            <a:avLst/>
          </a:prstGeom>
          <a:solidFill>
            <a:srgbClr val="D98E04"/>
          </a:solidFill>
          <a:ln w="12700">
            <a:solidFill>
              <a:srgbClr val="D98E04"/>
            </a:solidFill>
            <a:prstDash val="solid"/>
          </a:ln>
        </p:spPr>
      </p:sp>
      <p:sp>
        <p:nvSpPr>
          <p:cNvPr id="45" name="Text 43"/>
          <p:cNvSpPr txBox="1"/>
          <p:nvPr/>
        </p:nvSpPr>
        <p:spPr>
          <a:xfrm>
            <a:off x="6995160" y="3008376"/>
            <a:ext cx="4389120" cy="3657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Admin logs in via Keycloak</a:t>
            </a:r>
            <a:endParaRPr lang="en-US" sz="1050" dirty="0"/>
          </a:p>
        </p:txBody>
      </p:sp>
      <p:sp>
        <p:nvSpPr>
          <p:cNvPr id="46" name="Shape 44"/>
          <p:cNvSpPr/>
          <p:nvPr/>
        </p:nvSpPr>
        <p:spPr>
          <a:xfrm>
            <a:off x="6720840" y="3520440"/>
            <a:ext cx="118872" cy="118872"/>
          </a:xfrm>
          <a:prstGeom prst="ellipse">
            <a:avLst/>
          </a:prstGeom>
          <a:solidFill>
            <a:srgbClr val="D98E04"/>
          </a:solidFill>
          <a:ln w="12700">
            <a:solidFill>
              <a:srgbClr val="D98E04"/>
            </a:solidFill>
            <a:prstDash val="solid"/>
          </a:ln>
        </p:spPr>
      </p:sp>
      <p:sp>
        <p:nvSpPr>
          <p:cNvPr id="47" name="Text 45"/>
          <p:cNvSpPr txBox="1"/>
          <p:nvPr/>
        </p:nvSpPr>
        <p:spPr>
          <a:xfrm>
            <a:off x="6995160" y="3410712"/>
            <a:ext cx="4389120" cy="3657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Calls one trivial "hello tenant" endpoint</a:t>
            </a:r>
            <a:endParaRPr lang="en-US" sz="1050" dirty="0"/>
          </a:p>
        </p:txBody>
      </p:sp>
      <p:sp>
        <p:nvSpPr>
          <p:cNvPr id="48" name="Shape 46"/>
          <p:cNvSpPr/>
          <p:nvPr/>
        </p:nvSpPr>
        <p:spPr>
          <a:xfrm>
            <a:off x="6720840" y="3922776"/>
            <a:ext cx="118872" cy="118872"/>
          </a:xfrm>
          <a:prstGeom prst="ellipse">
            <a:avLst/>
          </a:prstGeom>
          <a:solidFill>
            <a:srgbClr val="D98E04"/>
          </a:solidFill>
          <a:ln w="12700">
            <a:solidFill>
              <a:srgbClr val="D98E04"/>
            </a:solidFill>
            <a:prstDash val="solid"/>
          </a:ln>
        </p:spPr>
      </p:sp>
      <p:sp>
        <p:nvSpPr>
          <p:cNvPr id="49" name="Text 47"/>
          <p:cNvSpPr txBox="1"/>
          <p:nvPr/>
        </p:nvSpPr>
        <p:spPr>
          <a:xfrm>
            <a:off x="6995160" y="3813048"/>
            <a:ext cx="4389120" cy="3657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Gateway verifies token, resolves entitlement from Redis</a:t>
            </a:r>
            <a:endParaRPr lang="en-US" sz="1050" dirty="0"/>
          </a:p>
        </p:txBody>
      </p:sp>
      <p:sp>
        <p:nvSpPr>
          <p:cNvPr id="50" name="Shape 48"/>
          <p:cNvSpPr/>
          <p:nvPr/>
        </p:nvSpPr>
        <p:spPr>
          <a:xfrm>
            <a:off x="6720840" y="4325112"/>
            <a:ext cx="118872" cy="118872"/>
          </a:xfrm>
          <a:prstGeom prst="ellipse">
            <a:avLst/>
          </a:prstGeom>
          <a:solidFill>
            <a:srgbClr val="D98E04"/>
          </a:solidFill>
          <a:ln w="12700">
            <a:solidFill>
              <a:srgbClr val="D98E04"/>
            </a:solidFill>
            <a:prstDash val="solid"/>
          </a:ln>
        </p:spPr>
      </p:sp>
      <p:sp>
        <p:nvSpPr>
          <p:cNvPr id="51" name="Text 49"/>
          <p:cNvSpPr txBox="1"/>
          <p:nvPr/>
        </p:nvSpPr>
        <p:spPr>
          <a:xfrm>
            <a:off x="6995160" y="4215384"/>
            <a:ext cx="4389120" cy="3657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Resolution layer sets app.tenant_id, RLS scopes the query</a:t>
            </a:r>
            <a:endParaRPr lang="en-US" sz="1050" dirty="0"/>
          </a:p>
        </p:txBody>
      </p:sp>
      <p:sp>
        <p:nvSpPr>
          <p:cNvPr id="52" name="Shape 50"/>
          <p:cNvSpPr/>
          <p:nvPr/>
        </p:nvSpPr>
        <p:spPr>
          <a:xfrm>
            <a:off x="6720840" y="4727448"/>
            <a:ext cx="118872" cy="118872"/>
          </a:xfrm>
          <a:prstGeom prst="ellipse">
            <a:avLst/>
          </a:prstGeom>
          <a:solidFill>
            <a:srgbClr val="D98E04"/>
          </a:solidFill>
          <a:ln w="12700">
            <a:solidFill>
              <a:srgbClr val="D98E04"/>
            </a:solidFill>
            <a:prstDash val="solid"/>
          </a:ln>
        </p:spPr>
      </p:sp>
      <p:sp>
        <p:nvSpPr>
          <p:cNvPr id="53" name="Text 51"/>
          <p:cNvSpPr txBox="1"/>
          <p:nvPr/>
        </p:nvSpPr>
        <p:spPr>
          <a:xfrm>
            <a:off x="6995160" y="4617720"/>
            <a:ext cx="4389120" cy="365760"/>
          </a:xfrm>
          <a:prstGeom prst="rect">
            <a:avLst/>
          </a:prstGeom>
          <a:noFill/>
          <a:ln/>
        </p:spPr>
        <p:txBody>
          <a:bodyPr wrap="square" lIns="0" tIns="0" rIns="0" bIns="0" rtlCol="0" anchor="ctr"/>
          <a:lstStyle/>
          <a:p>
            <a:pPr indent="0" marL="0">
              <a:buNone/>
            </a:pPr>
            <a:r>
              <a:rPr lang="en-US" sz="1050" dirty="0">
                <a:solidFill>
                  <a:srgbClr val="CADCFC"/>
                </a:solidFill>
                <a:latin typeface="Calibri" pitchFamily="34" charset="0"/>
                <a:ea typeface="Calibri" pitchFamily="34" charset="-122"/>
                <a:cs typeface="Calibri" pitchFamily="34" charset="-120"/>
              </a:rPr>
              <a:t>Cross-tenant test attempts another tenant's row → fails</a:t>
            </a:r>
            <a:endParaRPr lang="en-US" sz="1050" dirty="0"/>
          </a:p>
        </p:txBody>
      </p:sp>
      <p:sp>
        <p:nvSpPr>
          <p:cNvPr id="54" name="Text 52"/>
          <p:cNvSpPr txBox="1"/>
          <p:nvPr/>
        </p:nvSpPr>
        <p:spPr>
          <a:xfrm>
            <a:off x="6629400" y="5029200"/>
            <a:ext cx="4709160" cy="292608"/>
          </a:xfrm>
          <a:prstGeom prst="rect">
            <a:avLst/>
          </a:prstGeom>
          <a:noFill/>
          <a:ln/>
        </p:spPr>
        <p:txBody>
          <a:bodyPr wrap="square" lIns="0" tIns="0" rIns="0" bIns="0" rtlCol="0" anchor="ctr"/>
          <a:lstStyle/>
          <a:p>
            <a:pPr indent="0" marL="0">
              <a:buNone/>
            </a:pPr>
            <a:r>
              <a:rPr lang="en-US" sz="1050" i="1" dirty="0">
                <a:solidFill>
                  <a:srgbClr val="D98E04"/>
                </a:solidFill>
                <a:latin typeface="Calibri" pitchFamily="34" charset="0"/>
                <a:ea typeface="Calibri" pitchFamily="34" charset="-122"/>
                <a:cs typeface="Calibri" pitchFamily="34" charset="-120"/>
              </a:rPr>
              <a:t>Touches every load-bearing piece. If the design is wrong we find out in week three, not week fifteen.</a:t>
            </a:r>
            <a:endParaRPr lang="en-US" sz="1050" dirty="0"/>
          </a:p>
        </p:txBody>
      </p:sp>
      <p:sp>
        <p:nvSpPr>
          <p:cNvPr id="55" name="Text 53"/>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Write the cross-tenant access test BEFORE the endpoint works. Watching it fail correctly once RLS is on is the only proof isolation actually holds.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2651760" y="4937760"/>
            <a:ext cx="4023360" cy="4023360"/>
          </a:xfrm>
          <a:prstGeom prst="ellipse">
            <a:avLst/>
          </a:prstGeom>
          <a:solidFill>
            <a:srgbClr val="065A82"/>
          </a:solidFill>
          <a:ln w="12700">
            <a:solidFill>
              <a:srgbClr val="065A82"/>
            </a:solidFill>
            <a:prstDash val="solid"/>
          </a:ln>
        </p:spPr>
      </p:sp>
      <p:sp>
        <p:nvSpPr>
          <p:cNvPr id="3" name="Text 1"/>
          <p:cNvSpPr txBox="1"/>
          <p:nvPr/>
        </p:nvSpPr>
        <p:spPr>
          <a:xfrm>
            <a:off x="640080" y="457200"/>
            <a:ext cx="10972800" cy="713232"/>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Open Questions for Review</a:t>
            </a:r>
            <a:endParaRPr lang="en-US" sz="3400" dirty="0"/>
          </a:p>
        </p:txBody>
      </p:sp>
      <p:sp>
        <p:nvSpPr>
          <p:cNvPr id="4" name="Text 2"/>
          <p:cNvSpPr txBox="1"/>
          <p:nvPr/>
        </p:nvSpPr>
        <p:spPr>
          <a:xfrm>
            <a:off x="640080" y="1170432"/>
            <a:ext cx="10972800" cy="347472"/>
          </a:xfrm>
          <a:prstGeom prst="rect">
            <a:avLst/>
          </a:prstGeom>
          <a:noFill/>
          <a:ln/>
        </p:spPr>
        <p:txBody>
          <a:bodyPr wrap="square" lIns="0" tIns="0" rIns="0" bIns="0" rtlCol="0" anchor="ctr"/>
          <a:lstStyle/>
          <a:p>
            <a:pPr indent="0" marL="0">
              <a:buNone/>
            </a:pPr>
            <a:r>
              <a:rPr lang="en-US" sz="1350" dirty="0">
                <a:solidFill>
                  <a:srgbClr val="9BB3C7"/>
                </a:solidFill>
                <a:latin typeface="Calibri" pitchFamily="34" charset="0"/>
                <a:ea typeface="Calibri" pitchFamily="34" charset="-122"/>
                <a:cs typeface="Calibri" pitchFamily="34" charset="-120"/>
              </a:rPr>
              <a:t>Genuinely undecided — input wanted</a:t>
            </a:r>
            <a:endParaRPr lang="en-US" sz="1350" dirty="0"/>
          </a:p>
        </p:txBody>
      </p:sp>
      <p:sp>
        <p:nvSpPr>
          <p:cNvPr id="5" name="Shape 3"/>
          <p:cNvSpPr/>
          <p:nvPr/>
        </p:nvSpPr>
        <p:spPr>
          <a:xfrm>
            <a:off x="640080" y="1691640"/>
            <a:ext cx="10972800" cy="777240"/>
          </a:xfrm>
          <a:prstGeom prst="roundRect">
            <a:avLst>
              <a:gd name="adj" fmla="val 7059"/>
            </a:avLst>
          </a:prstGeom>
          <a:solidFill>
            <a:srgbClr val="2C3670"/>
          </a:solidFill>
          <a:ln w="12700">
            <a:solidFill>
              <a:srgbClr val="3D4A8A"/>
            </a:solidFill>
            <a:prstDash val="solid"/>
          </a:ln>
        </p:spPr>
      </p:sp>
      <p:sp>
        <p:nvSpPr>
          <p:cNvPr id="6" name="Shape 4"/>
          <p:cNvSpPr/>
          <p:nvPr/>
        </p:nvSpPr>
        <p:spPr>
          <a:xfrm>
            <a:off x="914400" y="1901952"/>
            <a:ext cx="365760" cy="365760"/>
          </a:xfrm>
          <a:prstGeom prst="ellipse">
            <a:avLst/>
          </a:prstGeom>
          <a:solidFill>
            <a:srgbClr val="D98E04"/>
          </a:solidFill>
          <a:ln w="12700">
            <a:solidFill>
              <a:srgbClr val="D98E04"/>
            </a:solidFill>
            <a:prstDash val="solid"/>
          </a:ln>
        </p:spPr>
      </p:sp>
      <p:sp>
        <p:nvSpPr>
          <p:cNvPr id="7" name="Text 5"/>
          <p:cNvSpPr txBox="1"/>
          <p:nvPr/>
        </p:nvSpPr>
        <p:spPr>
          <a:xfrm>
            <a:off x="914400" y="1938528"/>
            <a:ext cx="365760" cy="292608"/>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81328" y="1783080"/>
            <a:ext cx="3657600" cy="5943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Read-only as a third entitlement state?</a:t>
            </a:r>
            <a:endParaRPr lang="en-US" sz="1300" dirty="0"/>
          </a:p>
        </p:txBody>
      </p:sp>
      <p:sp>
        <p:nvSpPr>
          <p:cNvPr id="9" name="Text 7"/>
          <p:cNvSpPr txBox="1"/>
          <p:nvPr/>
        </p:nvSpPr>
        <p:spPr>
          <a:xfrm>
            <a:off x="5303520" y="1783080"/>
            <a:ext cx="6035040" cy="594360"/>
          </a:xfrm>
          <a:prstGeom prst="rect">
            <a:avLst/>
          </a:prstGeom>
          <a:noFill/>
          <a:ln/>
        </p:spPr>
        <p:txBody>
          <a:bodyPr wrap="square" lIns="0" tIns="0" rIns="0" bIns="0" rtlCol="0" anchor="ctr"/>
          <a:lstStyle/>
          <a:p>
            <a:pPr indent="0" marL="0">
              <a:buNone/>
            </a:pPr>
            <a:r>
              <a:rPr lang="en-US" sz="1050" dirty="0">
                <a:solidFill>
                  <a:srgbClr val="BCCADC"/>
                </a:solidFill>
                <a:latin typeface="Calibri" pitchFamily="34" charset="0"/>
                <a:ea typeface="Calibri" pitchFamily="34" charset="-122"/>
                <a:cs typeface="Calibri" pitchFamily="34" charset="-120"/>
              </a:rPr>
              <a:t>Downgraded clients view historical data but cannot create. Nicer UX, weaker upsell lever. Must be modelled now or skipped — bolting on later is painful.</a:t>
            </a:r>
            <a:endParaRPr lang="en-US" sz="1050" dirty="0"/>
          </a:p>
        </p:txBody>
      </p:sp>
      <p:sp>
        <p:nvSpPr>
          <p:cNvPr id="10" name="Shape 8"/>
          <p:cNvSpPr/>
          <p:nvPr/>
        </p:nvSpPr>
        <p:spPr>
          <a:xfrm>
            <a:off x="640080" y="2587752"/>
            <a:ext cx="10972800" cy="777240"/>
          </a:xfrm>
          <a:prstGeom prst="roundRect">
            <a:avLst>
              <a:gd name="adj" fmla="val 7059"/>
            </a:avLst>
          </a:prstGeom>
          <a:solidFill>
            <a:srgbClr val="2C3670"/>
          </a:solidFill>
          <a:ln w="12700">
            <a:solidFill>
              <a:srgbClr val="3D4A8A"/>
            </a:solidFill>
            <a:prstDash val="solid"/>
          </a:ln>
        </p:spPr>
      </p:sp>
      <p:sp>
        <p:nvSpPr>
          <p:cNvPr id="11" name="Shape 9"/>
          <p:cNvSpPr/>
          <p:nvPr/>
        </p:nvSpPr>
        <p:spPr>
          <a:xfrm>
            <a:off x="914400" y="2798064"/>
            <a:ext cx="365760" cy="365760"/>
          </a:xfrm>
          <a:prstGeom prst="ellipse">
            <a:avLst/>
          </a:prstGeom>
          <a:solidFill>
            <a:srgbClr val="D98E04"/>
          </a:solidFill>
          <a:ln w="12700">
            <a:solidFill>
              <a:srgbClr val="D98E04"/>
            </a:solidFill>
            <a:prstDash val="solid"/>
          </a:ln>
        </p:spPr>
      </p:sp>
      <p:sp>
        <p:nvSpPr>
          <p:cNvPr id="12" name="Text 10"/>
          <p:cNvSpPr txBox="1"/>
          <p:nvPr/>
        </p:nvSpPr>
        <p:spPr>
          <a:xfrm>
            <a:off x="914400" y="2834640"/>
            <a:ext cx="365760" cy="292608"/>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481328" y="2679192"/>
            <a:ext cx="3657600" cy="5943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Which module is second?</a:t>
            </a:r>
            <a:endParaRPr lang="en-US" sz="1300" dirty="0"/>
          </a:p>
        </p:txBody>
      </p:sp>
      <p:sp>
        <p:nvSpPr>
          <p:cNvPr id="14" name="Text 12"/>
          <p:cNvSpPr txBox="1"/>
          <p:nvPr/>
        </p:nvSpPr>
        <p:spPr>
          <a:xfrm>
            <a:off x="5303520" y="2679192"/>
            <a:ext cx="6035040" cy="594360"/>
          </a:xfrm>
          <a:prstGeom prst="rect">
            <a:avLst/>
          </a:prstGeom>
          <a:noFill/>
          <a:ln/>
        </p:spPr>
        <p:txBody>
          <a:bodyPr wrap="square" lIns="0" tIns="0" rIns="0" bIns="0" rtlCol="0" anchor="ctr"/>
          <a:lstStyle/>
          <a:p>
            <a:pPr indent="0" marL="0">
              <a:buNone/>
            </a:pPr>
            <a:r>
              <a:rPr lang="en-US" sz="1050" dirty="0">
                <a:solidFill>
                  <a:srgbClr val="BCCADC"/>
                </a:solidFill>
                <a:latin typeface="Calibri" pitchFamily="34" charset="0"/>
                <a:ea typeface="Calibri" pitchFamily="34" charset="-122"/>
                <a:cs typeface="Calibri" pitchFamily="34" charset="-120"/>
              </a:rPr>
              <a:t>It determines what the plugin contract must generalise over. Accounting and Inventory stress it very differently.</a:t>
            </a:r>
            <a:endParaRPr lang="en-US" sz="1050" dirty="0"/>
          </a:p>
        </p:txBody>
      </p:sp>
      <p:sp>
        <p:nvSpPr>
          <p:cNvPr id="15" name="Shape 13"/>
          <p:cNvSpPr/>
          <p:nvPr/>
        </p:nvSpPr>
        <p:spPr>
          <a:xfrm>
            <a:off x="640080" y="3483864"/>
            <a:ext cx="10972800" cy="777240"/>
          </a:xfrm>
          <a:prstGeom prst="roundRect">
            <a:avLst>
              <a:gd name="adj" fmla="val 7059"/>
            </a:avLst>
          </a:prstGeom>
          <a:solidFill>
            <a:srgbClr val="2C3670"/>
          </a:solidFill>
          <a:ln w="12700">
            <a:solidFill>
              <a:srgbClr val="3D4A8A"/>
            </a:solidFill>
            <a:prstDash val="solid"/>
          </a:ln>
        </p:spPr>
      </p:sp>
      <p:sp>
        <p:nvSpPr>
          <p:cNvPr id="16" name="Shape 14"/>
          <p:cNvSpPr/>
          <p:nvPr/>
        </p:nvSpPr>
        <p:spPr>
          <a:xfrm>
            <a:off x="914400" y="3694176"/>
            <a:ext cx="365760" cy="365760"/>
          </a:xfrm>
          <a:prstGeom prst="ellipse">
            <a:avLst/>
          </a:prstGeom>
          <a:solidFill>
            <a:srgbClr val="D98E04"/>
          </a:solidFill>
          <a:ln w="12700">
            <a:solidFill>
              <a:srgbClr val="D98E04"/>
            </a:solidFill>
            <a:prstDash val="solid"/>
          </a:ln>
        </p:spPr>
      </p:sp>
      <p:sp>
        <p:nvSpPr>
          <p:cNvPr id="17" name="Text 15"/>
          <p:cNvSpPr txBox="1"/>
          <p:nvPr/>
        </p:nvSpPr>
        <p:spPr>
          <a:xfrm>
            <a:off x="914400" y="3730752"/>
            <a:ext cx="365760" cy="292608"/>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481328" y="3575304"/>
            <a:ext cx="3657600" cy="5943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Payroll in or out of HR MVP?</a:t>
            </a:r>
            <a:endParaRPr lang="en-US" sz="1300" dirty="0"/>
          </a:p>
        </p:txBody>
      </p:sp>
      <p:sp>
        <p:nvSpPr>
          <p:cNvPr id="19" name="Text 17"/>
          <p:cNvSpPr txBox="1"/>
          <p:nvPr/>
        </p:nvSpPr>
        <p:spPr>
          <a:xfrm>
            <a:off x="5303520" y="3575304"/>
            <a:ext cx="6035040" cy="594360"/>
          </a:xfrm>
          <a:prstGeom prst="rect">
            <a:avLst/>
          </a:prstGeom>
          <a:noFill/>
          <a:ln/>
        </p:spPr>
        <p:txBody>
          <a:bodyPr wrap="square" lIns="0" tIns="0" rIns="0" bIns="0" rtlCol="0" anchor="ctr"/>
          <a:lstStyle/>
          <a:p>
            <a:pPr indent="0" marL="0">
              <a:buNone/>
            </a:pPr>
            <a:r>
              <a:rPr lang="en-US" sz="1050" dirty="0">
                <a:solidFill>
                  <a:srgbClr val="BCCADC"/>
                </a:solidFill>
                <a:latin typeface="Calibri" pitchFamily="34" charset="0"/>
                <a:ea typeface="Calibri" pitchFamily="34" charset="-122"/>
                <a:cs typeface="Calibri" pitchFamily="34" charset="-120"/>
              </a:rPr>
              <a:t>Most locale-dependent part of HR and the biggest scope risk. Currently deferred.</a:t>
            </a:r>
            <a:endParaRPr lang="en-US" sz="1050" dirty="0"/>
          </a:p>
        </p:txBody>
      </p:sp>
      <p:sp>
        <p:nvSpPr>
          <p:cNvPr id="20" name="Shape 18"/>
          <p:cNvSpPr/>
          <p:nvPr/>
        </p:nvSpPr>
        <p:spPr>
          <a:xfrm>
            <a:off x="640080" y="4379976"/>
            <a:ext cx="10972800" cy="777240"/>
          </a:xfrm>
          <a:prstGeom prst="roundRect">
            <a:avLst>
              <a:gd name="adj" fmla="val 7059"/>
            </a:avLst>
          </a:prstGeom>
          <a:solidFill>
            <a:srgbClr val="2C3670"/>
          </a:solidFill>
          <a:ln w="12700">
            <a:solidFill>
              <a:srgbClr val="3D4A8A"/>
            </a:solidFill>
            <a:prstDash val="solid"/>
          </a:ln>
        </p:spPr>
      </p:sp>
      <p:sp>
        <p:nvSpPr>
          <p:cNvPr id="21" name="Shape 19"/>
          <p:cNvSpPr/>
          <p:nvPr/>
        </p:nvSpPr>
        <p:spPr>
          <a:xfrm>
            <a:off x="914400" y="4590288"/>
            <a:ext cx="365760" cy="365760"/>
          </a:xfrm>
          <a:prstGeom prst="ellipse">
            <a:avLst/>
          </a:prstGeom>
          <a:solidFill>
            <a:srgbClr val="D98E04"/>
          </a:solidFill>
          <a:ln w="12700">
            <a:solidFill>
              <a:srgbClr val="D98E04"/>
            </a:solidFill>
            <a:prstDash val="solid"/>
          </a:ln>
        </p:spPr>
      </p:sp>
      <p:sp>
        <p:nvSpPr>
          <p:cNvPr id="22" name="Text 20"/>
          <p:cNvSpPr txBox="1"/>
          <p:nvPr/>
        </p:nvSpPr>
        <p:spPr>
          <a:xfrm>
            <a:off x="914400" y="4626864"/>
            <a:ext cx="365760" cy="292608"/>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481328" y="4471416"/>
            <a:ext cx="3657600" cy="5943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Message broker — Kafka or RabbitMQ?</a:t>
            </a:r>
            <a:endParaRPr lang="en-US" sz="1300" dirty="0"/>
          </a:p>
        </p:txBody>
      </p:sp>
      <p:sp>
        <p:nvSpPr>
          <p:cNvPr id="24" name="Text 22"/>
          <p:cNvSpPr txBox="1"/>
          <p:nvPr/>
        </p:nvSpPr>
        <p:spPr>
          <a:xfrm>
            <a:off x="5303520" y="4471416"/>
            <a:ext cx="6035040" cy="594360"/>
          </a:xfrm>
          <a:prstGeom prst="rect">
            <a:avLst/>
          </a:prstGeom>
          <a:noFill/>
          <a:ln/>
        </p:spPr>
        <p:txBody>
          <a:bodyPr wrap="square" lIns="0" tIns="0" rIns="0" bIns="0" rtlCol="0" anchor="ctr"/>
          <a:lstStyle/>
          <a:p>
            <a:pPr indent="0" marL="0">
              <a:buNone/>
            </a:pPr>
            <a:r>
              <a:rPr lang="en-US" sz="1050" dirty="0">
                <a:solidFill>
                  <a:srgbClr val="BCCADC"/>
                </a:solidFill>
                <a:latin typeface="Calibri" pitchFamily="34" charset="0"/>
                <a:ea typeface="Calibri" pitchFamily="34" charset="-122"/>
                <a:cs typeface="Calibri" pitchFamily="34" charset="-120"/>
              </a:rPr>
              <a:t>Event volume is low at launch. RabbitMQ is simpler to operate; Kafka is the safer long bet.</a:t>
            </a:r>
            <a:endParaRPr lang="en-US" sz="1050" dirty="0"/>
          </a:p>
        </p:txBody>
      </p:sp>
      <p:sp>
        <p:nvSpPr>
          <p:cNvPr id="25" name="Shape 23"/>
          <p:cNvSpPr/>
          <p:nvPr/>
        </p:nvSpPr>
        <p:spPr>
          <a:xfrm>
            <a:off x="640080" y="5276088"/>
            <a:ext cx="10972800" cy="777240"/>
          </a:xfrm>
          <a:prstGeom prst="roundRect">
            <a:avLst>
              <a:gd name="adj" fmla="val 7059"/>
            </a:avLst>
          </a:prstGeom>
          <a:solidFill>
            <a:srgbClr val="2C3670"/>
          </a:solidFill>
          <a:ln w="12700">
            <a:solidFill>
              <a:srgbClr val="3D4A8A"/>
            </a:solidFill>
            <a:prstDash val="solid"/>
          </a:ln>
        </p:spPr>
      </p:sp>
      <p:sp>
        <p:nvSpPr>
          <p:cNvPr id="26" name="Shape 24"/>
          <p:cNvSpPr/>
          <p:nvPr/>
        </p:nvSpPr>
        <p:spPr>
          <a:xfrm>
            <a:off x="914400" y="5486400"/>
            <a:ext cx="365760" cy="365760"/>
          </a:xfrm>
          <a:prstGeom prst="ellipse">
            <a:avLst/>
          </a:prstGeom>
          <a:solidFill>
            <a:srgbClr val="D98E04"/>
          </a:solidFill>
          <a:ln w="12700">
            <a:solidFill>
              <a:srgbClr val="D98E04"/>
            </a:solidFill>
            <a:prstDash val="solid"/>
          </a:ln>
        </p:spPr>
      </p:sp>
      <p:sp>
        <p:nvSpPr>
          <p:cNvPr id="27" name="Text 25"/>
          <p:cNvSpPr txBox="1"/>
          <p:nvPr/>
        </p:nvSpPr>
        <p:spPr>
          <a:xfrm>
            <a:off x="914400" y="5522976"/>
            <a:ext cx="365760" cy="292608"/>
          </a:xfrm>
          <a:prstGeom prst="rect">
            <a:avLst/>
          </a:prstGeom>
          <a:noFill/>
          <a:ln/>
        </p:spPr>
        <p:txBody>
          <a:bodyPr wrap="square" lIns="0" tIns="0" rIns="0" bIns="0" rtlCol="0" anchor="ctr"/>
          <a:lstStyle/>
          <a:p>
            <a:pPr algn="ctr" indent="0" marL="0">
              <a:buNone/>
            </a:pPr>
            <a:r>
              <a:rPr lang="en-US" sz="1300" b="1" dirty="0">
                <a:solidFill>
                  <a:srgbClr val="21295C"/>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1481328" y="5367528"/>
            <a:ext cx="3657600" cy="59436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Sync vs async tenant provisioning?</a:t>
            </a:r>
            <a:endParaRPr lang="en-US" sz="1300" dirty="0"/>
          </a:p>
        </p:txBody>
      </p:sp>
      <p:sp>
        <p:nvSpPr>
          <p:cNvPr id="29" name="Text 27"/>
          <p:cNvSpPr txBox="1"/>
          <p:nvPr/>
        </p:nvSpPr>
        <p:spPr>
          <a:xfrm>
            <a:off x="5303520" y="5367528"/>
            <a:ext cx="6035040" cy="594360"/>
          </a:xfrm>
          <a:prstGeom prst="rect">
            <a:avLst/>
          </a:prstGeom>
          <a:noFill/>
          <a:ln/>
        </p:spPr>
        <p:txBody>
          <a:bodyPr wrap="square" lIns="0" tIns="0" rIns="0" bIns="0" rtlCol="0" anchor="ctr"/>
          <a:lstStyle/>
          <a:p>
            <a:pPr indent="0" marL="0">
              <a:buNone/>
            </a:pPr>
            <a:r>
              <a:rPr lang="en-US" sz="1050" dirty="0">
                <a:solidFill>
                  <a:srgbClr val="BCCADC"/>
                </a:solidFill>
                <a:latin typeface="Calibri" pitchFamily="34" charset="0"/>
                <a:ea typeface="Calibri" pitchFamily="34" charset="-122"/>
                <a:cs typeface="Calibri" pitchFamily="34" charset="-120"/>
              </a:rPr>
              <a:t>Shared DB makes it fast enough to be synchronous today. Async now costs little and survives the dedicated-DB tier.</a:t>
            </a:r>
            <a:endParaRPr lang="en-US" sz="1050" dirty="0"/>
          </a:p>
        </p:txBody>
      </p:sp>
      <p:sp>
        <p:nvSpPr>
          <p:cNvPr id="30" name="Text 28"/>
          <p:cNvSpPr txBox="1"/>
          <p:nvPr/>
        </p:nvSpPr>
        <p:spPr>
          <a:xfrm>
            <a:off x="640080" y="6263640"/>
            <a:ext cx="10972800" cy="320040"/>
          </a:xfrm>
          <a:prstGeom prst="rect">
            <a:avLst/>
          </a:prstGeom>
          <a:noFill/>
          <a:ln/>
        </p:spPr>
        <p:txBody>
          <a:bodyPr wrap="square" lIns="0" tIns="0" rIns="0" bIns="0" rtlCol="0" anchor="ctr"/>
          <a:lstStyle/>
          <a:p>
            <a:pPr indent="0" marL="0">
              <a:buNone/>
            </a:pPr>
            <a:r>
              <a:rPr lang="en-US" sz="1200" i="1" dirty="0">
                <a:solidFill>
                  <a:srgbClr val="D98E04"/>
                </a:solidFill>
                <a:latin typeface="Calibri" pitchFamily="34" charset="0"/>
                <a:ea typeface="Calibri" pitchFamily="34" charset="-122"/>
                <a:cs typeface="Calibri" pitchFamily="34" charset="-120"/>
              </a:rPr>
              <a:t>Everything else in this deck is decided. These five are open.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2026-09-13T18:20:58Z</dcterms:created>
  <dcterms:modified xsi:type="dcterms:W3CDTF">2026-09-13T18:20:58Z</dcterms:modified>
</cp:coreProperties>
</file>