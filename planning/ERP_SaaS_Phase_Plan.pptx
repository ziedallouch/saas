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session: agree on scope, understand the phase sequence and what gates each phase, and align on timeline and risks.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business-level. The technical architecture sits behind these four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decision is the most commercially significant: we deliberately avoided over-building isolation nobody has asked to pay for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 and 1 are highlighted in gold as the immediate focus. Be explicit that these are effort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is the thing to focus on: each phase is only done when its gate is demonstrably 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is short but non-negotiable — it is far harder to retrofit data separation onto a live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marks indicate each phase gate. Phase 6 runs in parallel with 7 where team size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here. The owner should leave knowing what could move the dates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3 is the one with structural consequences: pack versioning has to be decided before billing is built, not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these four. Everything else in the plan is ready to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as a Service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 &amp; Phase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1463040" cy="4572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319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project owner review  ·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Building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many client companies, each paying for only what they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29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Multi-client platform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4144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serves many client companies, each with their own isolated, private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8424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2029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by design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44144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HR, then adding Accounting, Inventory and CRM. Clients switch modules on and off as needs change.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3308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4178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14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Packs &amp; pricing tiers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9028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are bundled into commercial packs. Upgrades and downgrades take effect immediately.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13308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4178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114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billing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59028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payments, automated invoicing, and self-service plan changes.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 Already Made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during design review — these shape cost, speed, and what we can sell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7393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simple, scale later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77393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clients share one secure database at launch. Dedicated databases become a premium upsell once a client asks and pays for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32520" y="1883664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8F1E9"/>
          </a:solidFill>
          <a:ln w="12700">
            <a:solidFill>
              <a:srgbClr val="C3DD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23960" y="18836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launch, lower running cost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98094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client onboarding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9809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client takes seconds, not hours of setup.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3090672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8F1E9"/>
          </a:solidFill>
          <a:ln w="12700">
            <a:solidFill>
              <a:srgbClr val="C3DD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23960" y="30906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can demo and close same-day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1879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changes apply in seconds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1879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 upgrades or downgrades, access updates almost immediately.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32520" y="4297680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8F1E9"/>
          </a:solidFill>
          <a:ln w="12700">
            <a:solidFill>
              <a:srgbClr val="C3DD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23960" y="4297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tickets, no waiting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66944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394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Downgrades never delete data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53949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a module locks it, keeping data intact. Re-subscribing restores everything.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32520" y="5504688"/>
            <a:ext cx="2606040" cy="548640"/>
          </a:xfrm>
          <a:prstGeom prst="roundRect">
            <a:avLst>
              <a:gd name="adj" fmla="val 10000"/>
            </a:avLst>
          </a:prstGeom>
          <a:solidFill>
            <a:srgbClr val="E8F1E9"/>
          </a:solidFill>
          <a:ln w="12700">
            <a:solidFill>
              <a:srgbClr val="C3DD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23960" y="55046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returning clients frictionless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at a Glance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phases, roughly 5–6 months to first paying client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3127248"/>
            <a:ext cx="10789920" cy="36576"/>
          </a:xfrm>
          <a:prstGeom prst="rect">
            <a:avLst/>
          </a:prstGeom>
          <a:solidFill>
            <a:srgbClr val="C9D6DF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980944"/>
            <a:ext cx="347472" cy="347472"/>
          </a:xfrm>
          <a:prstGeom prst="ellipse">
            <a:avLst/>
          </a:prstGeom>
          <a:solidFill>
            <a:srgbClr val="D98E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230428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21208" y="19933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79676" y="2980944"/>
            <a:ext cx="347472" cy="347472"/>
          </a:xfrm>
          <a:prstGeom prst="ellipse">
            <a:avLst/>
          </a:prstGeom>
          <a:solidFill>
            <a:srgbClr val="D98E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79676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632204" y="34930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32204" y="4041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90672" y="2980944"/>
            <a:ext cx="347472" cy="34747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90672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30428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Security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19933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1668" y="2980944"/>
            <a:ext cx="347472" cy="34747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1668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854196" y="34930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854196" y="4041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12664" y="2980944"/>
            <a:ext cx="347472" cy="34747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12664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965192" y="230428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965192" y="19933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23660" y="2980944"/>
            <a:ext cx="347472" cy="34747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3660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76188" y="34930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076188" y="4041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34656" y="2980944"/>
            <a:ext cx="347472" cy="34747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34656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187184" y="230428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Modules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187184" y="19933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645652" y="2980944"/>
            <a:ext cx="347472" cy="34747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45652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298180" y="34930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Portals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298180" y="4041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756648" y="2980944"/>
            <a:ext cx="347472" cy="34747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56648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409176" y="230428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09176" y="19933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867644" y="2980944"/>
            <a:ext cx="347472" cy="34747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867644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520172" y="34930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520172" y="4041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96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run mostly in sequence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349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modules (Phase 6) can be built in parallel once the platform foundation is in place.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17920" y="48920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DF4E3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9224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assumes a stable team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492240" y="5349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engineering effort, not calendar guarantees. Scope changes move the dates.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0–2: Foundation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client-facing yet — this is the groundwork everything else stands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Scope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5643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module list, the pack tiers and pricing, and the technology choices.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9194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list and pack tiers signed 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61688" y="1691640"/>
            <a:ext cx="3538728" cy="425196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196596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36008" y="205740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36008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636008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345643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hosting environment: servers, databases, deployment pipeline, monitoring.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36008" y="457200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49194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service deploys automatically end to 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74736" y="1691640"/>
            <a:ext cx="3538728" cy="425196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49056" y="196596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49056" y="205740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449056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Security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449056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345643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for all clients, user roles and permissions, secure token handling.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49056" y="457200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86216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586216" y="49194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log in and be correctly identified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3–5: The Commercial Engine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clients, packs, and money start flowing through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5643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prove the client data separation. Automated tests confirm no client can ever see another's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9194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Cross-client access tests pass in every build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61688" y="1691640"/>
            <a:ext cx="3538728" cy="425196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196596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36008" y="205740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36008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Platform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636008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345643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accounts, module catalogue, packs, subscriptions, upgrades and downgrades, data export.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36008" y="457200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49194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can be created, subscribed, and upgraded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74736" y="1691640"/>
            <a:ext cx="3538728" cy="425196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49056" y="196596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49056" y="205740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449056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Payments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449056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345643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provider integration, automated invoicing, failed-payment handling.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49056" y="4572000"/>
            <a:ext cx="301752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 w="12700">
            <a:solidFill>
              <a:srgbClr val="D5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86216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586216" y="49194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payment completes and invoices correctly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6–9: Product &amp; Launch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platform into something clients actually log into and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110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Module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6771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HR module first — employee records, org structure, leave, attendance. A second module follows immediately after.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63040" y="2990088"/>
            <a:ext cx="36576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27632" y="29900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usable end to end by a real client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349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947672"/>
            <a:ext cx="502920" cy="502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9110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Portals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26771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clients use: sign-up, subscription management, user admin, billing history. Plus an internal admin portal.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0" y="2990088"/>
            <a:ext cx="36576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29900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can self-serve without support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67912"/>
            <a:ext cx="5349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123944"/>
            <a:ext cx="502920" cy="502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187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Hardening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4123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4439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review, load testing, full client lifecycle testing from sign-up to cancellation.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463040" y="5166360"/>
            <a:ext cx="36576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27632" y="51663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critical issues outstanding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867912"/>
            <a:ext cx="5349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76200" dist="12700" dir="5400000">
              <a:srgbClr val="AFC0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4123944"/>
            <a:ext cx="502920" cy="502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4187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4123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44439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live, monitoring and alerting active, support process in place.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32320" y="5166360"/>
            <a:ext cx="36576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96912" y="51663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client onboarded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How We Manage Them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 most likely to cost us time or money, and the plan for each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8366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BE9E7"/>
          </a:solidFill>
          <a:ln w="12700">
            <a:solidFill>
              <a:srgbClr val="F0C4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836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556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 on modules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5564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ERP module adds weeks. We fix the MVP module list in Phase 0 and treat additions as separate decisions.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9806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BE9E7"/>
          </a:solidFill>
          <a:ln w="12700">
            <a:solidFill>
              <a:srgbClr val="F0C4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980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6700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data separation failure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67004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 between clients would be business-ending. Automated tests run on every code change from Phase 3 onward.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9300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1246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DF4E3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124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5844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provider constraints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58444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availability and compliance need confirming early — a blocker here delays Phase 5.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0740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2686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DF4E3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6268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4988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record retention law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449884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data may be legally required to be kept for years. Needs legal review before we build deletion.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2180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54126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DF4E3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5412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54132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availability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541324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estimates assume a stable team. Losing a developer mid-phase shifts dates materially.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Decisions We Need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questions — answering one without the others leaves gaps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007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Context: packs are built from features, not whole modules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7510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you sell HR with or without Payroll, at different price points. It also means every feature boundary is a pricing decision.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63500" dist="12700" dir="5400000">
              <a:srgbClr val="AFC0CC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3026664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07238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89888" y="28254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be separately sellable in HR?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32735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Employee Records · Leave · Attendance · Payroll — four sellable units.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2880360"/>
            <a:ext cx="4892040" cy="685800"/>
          </a:xfrm>
          <a:prstGeom prst="roundRect">
            <a:avLst>
              <a:gd name="adj" fmla="val 6667"/>
            </a:avLst>
          </a:prstGeom>
          <a:solidFill>
            <a:srgbClr val="FDF4E3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29352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1181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can be split later. Two already sold separately cannot easily be merged.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0448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63500" dist="12700" dir="5400000">
              <a:srgbClr val="AFC0CC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233672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427939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40325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decides a new feature belongs in a pack — and who sets the price?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4480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deliberately two separate permissions, and they recur every time we ship something new.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4087368"/>
            <a:ext cx="4892040" cy="685800"/>
          </a:xfrm>
          <a:prstGeom prst="roundRect">
            <a:avLst>
              <a:gd name="adj" fmla="val 6667"/>
            </a:avLst>
          </a:prstGeom>
          <a:solidFill>
            <a:srgbClr val="FDF4E3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41422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43251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named owners, features ship but sit unpriced and unsellable.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11149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  <a:effectLst>
            <a:outerShdw sx="100000" sy="100000" kx="0" ky="0" algn="bl" rotWithShape="0" blurRad="63500" dist="12700" dir="5400000">
              <a:srgbClr val="AFC0CC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5440680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54864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89888" y="5239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pack changes reach existing clients, or only new ones?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56875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add Payroll to Growth, do current Growth clients get it, or only clients who subscribe from now on?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46520" y="5294376"/>
            <a:ext cx="4892040" cy="685800"/>
          </a:xfrm>
          <a:prstGeom prst="roundRect">
            <a:avLst>
              <a:gd name="adj" fmla="val 6667"/>
            </a:avLst>
          </a:prstGeom>
          <a:solidFill>
            <a:srgbClr val="FDF4E3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5349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5532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"only new", packs need versioning — a structural change we must make before building billing.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51760" y="5120640"/>
            <a:ext cx="4023360" cy="4023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 Today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are agreed — the rest still block Phase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2C3670"/>
          </a:solidFill>
          <a:ln w="12700">
            <a:solidFill>
              <a:srgbClr val="3D4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66544"/>
            <a:ext cx="402336" cy="40233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1226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19568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Confirm: HR first, second module next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956816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is agreed. We need to know which module comes second — it shapes how we build the module system.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2C3670"/>
          </a:solidFill>
          <a:ln w="12700">
            <a:solidFill>
              <a:srgbClr val="3D4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90672"/>
            <a:ext cx="402336" cy="40233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136392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298094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 pack tiers and prices?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98094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the commercial structure before we can build packs and billing.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77056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2C3670"/>
          </a:solidFill>
          <a:ln w="12700">
            <a:solidFill>
              <a:srgbClr val="3D4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14800"/>
            <a:ext cx="402336" cy="40233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16052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36192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payment provider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4005072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availability and compliance must be verified before Phase 5 begins.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2C3670"/>
          </a:solidFill>
          <a:ln w="12700">
            <a:solidFill>
              <a:srgbClr val="3D4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38928"/>
            <a:ext cx="402336" cy="40233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184648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36192" y="50292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timeline and team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502920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assume a stable team throughout. Changes here move every date after them.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these are agreed, infrastructure work begins immediately.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2026-09-13T19:41:25Z</dcterms:created>
  <dcterms:modified xsi:type="dcterms:W3CDTF">2026-09-13T19:41:25Z</dcterms:modified>
</cp:coreProperties>
</file>